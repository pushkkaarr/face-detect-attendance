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59" r:id="rId14"/>
    <p:sldId id="274" r:id="rId15"/>
    <p:sldId id="273" r:id="rId16"/>
    <p:sldId id="275" r:id="rId17"/>
    <p:sldId id="277" r:id="rId18"/>
    <p:sldId id="278"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6" d="100"/>
          <a:sy n="76" d="100"/>
        </p:scale>
        <p:origin x="101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8A20A4-7DBF-4CD7-A550-611F683A6CE6}" type="datetimeFigureOut">
              <a:rPr lang="en-IN" smtClean="0"/>
              <a:t>02-05-2024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FD6BAF-D1E7-481C-B27E-EA71EEB793A9}" type="slidenum">
              <a:rPr lang="en-IN" smtClean="0"/>
              <a:t>‹#›</a:t>
            </a:fld>
            <a:endParaRPr lang="en-IN"/>
          </a:p>
        </p:txBody>
      </p:sp>
    </p:spTree>
    <p:extLst>
      <p:ext uri="{BB962C8B-B14F-4D97-AF65-F5344CB8AC3E}">
        <p14:creationId xmlns:p14="http://schemas.microsoft.com/office/powerpoint/2010/main" val="341976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FD6BAF-D1E7-481C-B27E-EA71EEB793A9}" type="slidenum">
              <a:rPr lang="en-IN" smtClean="0"/>
              <a:t>1</a:t>
            </a:fld>
            <a:endParaRPr lang="en-IN"/>
          </a:p>
        </p:txBody>
      </p:sp>
    </p:spTree>
    <p:extLst>
      <p:ext uri="{BB962C8B-B14F-4D97-AF65-F5344CB8AC3E}">
        <p14:creationId xmlns:p14="http://schemas.microsoft.com/office/powerpoint/2010/main" val="198328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FD6BAF-D1E7-481C-B27E-EA71EEB793A9}" type="slidenum">
              <a:rPr lang="en-IN" smtClean="0"/>
              <a:t>10</a:t>
            </a:fld>
            <a:endParaRPr lang="en-IN"/>
          </a:p>
        </p:txBody>
      </p:sp>
    </p:spTree>
    <p:extLst>
      <p:ext uri="{BB962C8B-B14F-4D97-AF65-F5344CB8AC3E}">
        <p14:creationId xmlns:p14="http://schemas.microsoft.com/office/powerpoint/2010/main" val="4284355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EEA87-BDF3-40B4-3419-11E6B2C55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A9F46B-24CE-9ADA-B047-4A1C9455B1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84BFBF-08CB-73E2-B923-FE2E71A5D54B}"/>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250E177F-7D05-5934-DABE-16A47248EA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BD2F7B-7C10-B249-B821-A7846A636120}"/>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377702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46F9-51E4-D82C-9481-510833469B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7A9333-6B03-75A1-39B4-246D5D180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4B6AA-A71A-FC19-6DD5-7CFCFE53A485}"/>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95A580BF-FBF0-D52D-9E82-26510A60E3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2A5CC5-13CA-FA80-E17B-7A89E3BBFD6F}"/>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3273518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B8FFB-79B5-FDFC-D3F7-65CD008FCD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08A5E2-8E3C-D722-7152-2E3D3248B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08E347-1D6F-1F7D-5A06-05609820392F}"/>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A9E9A088-BC86-50EB-B5B0-ABEAA6C0BD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356C42-606E-1088-8DE6-A9EC41055AA1}"/>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3792517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44A1-E9A2-DA96-0190-10B974FCB1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F5B8AF-A5C9-EB45-D763-A4D6A0CCFC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21AD65-87FD-A8DE-346E-A98CE6102D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9B8EEE-B3A9-9B46-EFBD-699427E77C28}"/>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6" name="Footer Placeholder 5">
            <a:extLst>
              <a:ext uri="{FF2B5EF4-FFF2-40B4-BE49-F238E27FC236}">
                <a16:creationId xmlns:a16="http://schemas.microsoft.com/office/drawing/2014/main" id="{161EC837-A061-5788-E9D1-C574B84CA9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1B85C-FFA2-7D15-9B56-31DBD1ED0C96}"/>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1342254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A4602-F8E7-80F2-0FC3-167325FF06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2D4707-491D-002C-8FDD-C032286580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9E497C-1156-2D0F-24C8-EC1310BEA7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46FA29-8EB6-9AD3-91FA-9EE9AFCEA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65832E-5940-AF8A-3B6C-98F0158384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DFCC20-EE98-CF37-4F7C-FA32A395B989}"/>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8" name="Footer Placeholder 7">
            <a:extLst>
              <a:ext uri="{FF2B5EF4-FFF2-40B4-BE49-F238E27FC236}">
                <a16:creationId xmlns:a16="http://schemas.microsoft.com/office/drawing/2014/main" id="{51F69DFB-E473-68AC-01C1-3486602084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F7AEE9-FA33-8FD7-BB30-4EB0061FFC82}"/>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304137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B8424-5CE7-5A01-8AA3-E4212B55A3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2A9EA9-968E-8393-A51D-B53BD5ED922B}"/>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4" name="Footer Placeholder 3">
            <a:extLst>
              <a:ext uri="{FF2B5EF4-FFF2-40B4-BE49-F238E27FC236}">
                <a16:creationId xmlns:a16="http://schemas.microsoft.com/office/drawing/2014/main" id="{82AFFE7D-EF3D-DD98-3E22-4504D0D11D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BA14DE-F9A7-40B5-9695-89147A64FC7D}"/>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286482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202F0-0325-52F4-89C7-D5763FE07B5D}"/>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3" name="Footer Placeholder 2">
            <a:extLst>
              <a:ext uri="{FF2B5EF4-FFF2-40B4-BE49-F238E27FC236}">
                <a16:creationId xmlns:a16="http://schemas.microsoft.com/office/drawing/2014/main" id="{92E8196B-64D1-DB8F-FC42-CD4A0DCD07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FF82A2-DD05-1310-AC82-38F7F975B014}"/>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2318501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0DC0-257E-C85F-B54C-49429DD181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6FEF7D-A6A4-F280-3CDB-322BD70A8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4743C4-79A4-8C0B-6000-0EA734EB5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B59740-9EC4-3B15-D88B-0FB5DFA1E360}"/>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6" name="Footer Placeholder 5">
            <a:extLst>
              <a:ext uri="{FF2B5EF4-FFF2-40B4-BE49-F238E27FC236}">
                <a16:creationId xmlns:a16="http://schemas.microsoft.com/office/drawing/2014/main" id="{1B252811-CBB2-66E9-C186-A667AD4E02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0F837F-B11E-51CB-E1CF-B4E3C2D95C0D}"/>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1568950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0025E-2629-BD63-457D-7BC6337EB1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0B9B03-C0B4-174C-7651-6EEE303739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3EA387-2504-4E50-E6C4-C63692741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BDDB75-1A44-A4A3-A44F-373AE266D77E}"/>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6" name="Footer Placeholder 5">
            <a:extLst>
              <a:ext uri="{FF2B5EF4-FFF2-40B4-BE49-F238E27FC236}">
                <a16:creationId xmlns:a16="http://schemas.microsoft.com/office/drawing/2014/main" id="{821EF479-761D-5586-CE4F-0F72C84434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E1F640-5FE3-4331-5021-0159E348C92F}"/>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3552405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20C6-0105-E7B2-90B5-86D43AF4CD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01F6E5-3937-4489-677B-B5419741FB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252441-3D92-179E-ACD5-45DAA7CDAD35}"/>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91FD7C67-E0C7-7C36-0168-9ECBDAC6DF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3AB054-8543-267D-5829-583F8B627405}"/>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129360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5857B3-F124-E3AE-659D-4EE5C3D642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04752B-F3B8-876B-E77D-A9D4F3CA1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B7B12-B832-BF8E-E3AA-7FF05330C68D}"/>
              </a:ext>
            </a:extLst>
          </p:cNvPr>
          <p:cNvSpPr>
            <a:spLocks noGrp="1"/>
          </p:cNvSpPr>
          <p:nvPr>
            <p:ph type="dt" sz="half" idx="10"/>
          </p:nvPr>
        </p:nvSpPr>
        <p:spPr/>
        <p:txBody>
          <a:body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7B065A97-D691-64B7-B74A-FD55F7CA84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8D599C-DA16-601C-99FF-42E1A18148C3}"/>
              </a:ext>
            </a:extLst>
          </p:cNvPr>
          <p:cNvSpPr>
            <a:spLocks noGrp="1"/>
          </p:cNvSpPr>
          <p:nvPr>
            <p:ph type="sldNum" sz="quarter" idx="12"/>
          </p:nvPr>
        </p:nvSpPr>
        <p:spPr/>
        <p:txBody>
          <a:bodyPr/>
          <a:lstStyle/>
          <a:p>
            <a:fld id="{F3BB2A8C-F2BC-415F-8829-FF56AEE9FF3F}" type="slidenum">
              <a:rPr lang="en-IN" smtClean="0"/>
              <a:t>‹#›</a:t>
            </a:fld>
            <a:endParaRPr lang="en-IN"/>
          </a:p>
        </p:txBody>
      </p:sp>
    </p:spTree>
    <p:extLst>
      <p:ext uri="{BB962C8B-B14F-4D97-AF65-F5344CB8AC3E}">
        <p14:creationId xmlns:p14="http://schemas.microsoft.com/office/powerpoint/2010/main" val="148002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42EE4A-4AB1-53D8-75F9-AB073B3A6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C99E89-5BC0-415C-07BF-BEEAF55B48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D438F1-3F41-F9A5-1F97-D394131EC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2B6853-A6EB-416F-AD53-872DB80ABB8A}" type="datetimeFigureOut">
              <a:rPr lang="en-IN" smtClean="0"/>
              <a:t>02-05-2024</a:t>
            </a:fld>
            <a:endParaRPr lang="en-IN"/>
          </a:p>
        </p:txBody>
      </p:sp>
      <p:sp>
        <p:nvSpPr>
          <p:cNvPr id="5" name="Footer Placeholder 4">
            <a:extLst>
              <a:ext uri="{FF2B5EF4-FFF2-40B4-BE49-F238E27FC236}">
                <a16:creationId xmlns:a16="http://schemas.microsoft.com/office/drawing/2014/main" id="{D224D51E-E36E-8A69-7F06-591CED947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AD7F6FD-03E3-1269-2532-575CB125BB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BB2A8C-F2BC-415F-8829-FF56AEE9FF3F}" type="slidenum">
              <a:rPr lang="en-IN" smtClean="0"/>
              <a:t>‹#›</a:t>
            </a:fld>
            <a:endParaRPr lang="en-IN"/>
          </a:p>
        </p:txBody>
      </p:sp>
    </p:spTree>
    <p:extLst>
      <p:ext uri="{BB962C8B-B14F-4D97-AF65-F5344CB8AC3E}">
        <p14:creationId xmlns:p14="http://schemas.microsoft.com/office/powerpoint/2010/main" val="1706266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sv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1.wdp"/><Relationship Id="rId7" Type="http://schemas.openxmlformats.org/officeDocument/2006/relationships/image" Target="../media/image4.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3.png"/><Relationship Id="rId4" Type="http://schemas.microsoft.com/office/2017/06/relationships/model3d" Target="../media/model3d1.glb"/><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hdphoto" Target="../media/hdphoto2.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7.xml"/><Relationship Id="rId6" Type="http://schemas.microsoft.com/office/2017/06/relationships/model3d" Target="../media/model3d1.glb"/><Relationship Id="rId11" Type="http://schemas.openxmlformats.org/officeDocument/2006/relationships/image" Target="../media/image10.svg"/><Relationship Id="rId5" Type="http://schemas.openxmlformats.org/officeDocument/2006/relationships/image" Target="../media/image16.svg"/><Relationship Id="rId10" Type="http://schemas.openxmlformats.org/officeDocument/2006/relationships/image" Target="../media/image9.png"/><Relationship Id="rId4" Type="http://schemas.openxmlformats.org/officeDocument/2006/relationships/image" Target="../media/image15.png"/><Relationship Id="rId9"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sv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microsoft.com/office/2017/06/relationships/model3d" Target="../media/model3d1.glb"/><Relationship Id="rId7" Type="http://schemas.openxmlformats.org/officeDocument/2006/relationships/image" Target="../media/image9.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sv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image" Target="../media/image20.png"/><Relationship Id="rId21" Type="http://schemas.openxmlformats.org/officeDocument/2006/relationships/image" Target="../media/image34.svg"/><Relationship Id="rId7" Type="http://schemas.openxmlformats.org/officeDocument/2006/relationships/image" Target="../media/image10.svg"/><Relationship Id="rId12" Type="http://schemas.openxmlformats.org/officeDocument/2006/relationships/image" Target="../media/image25.png"/><Relationship Id="rId17" Type="http://schemas.openxmlformats.org/officeDocument/2006/relationships/image" Target="../media/image30.svg"/><Relationship Id="rId25" Type="http://schemas.openxmlformats.org/officeDocument/2006/relationships/image" Target="../media/image38.svg"/><Relationship Id="rId2" Type="http://schemas.microsoft.com/office/2017/06/relationships/model3d" Target="../media/model3d1.glb"/><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4.svg"/><Relationship Id="rId24" Type="http://schemas.openxmlformats.org/officeDocument/2006/relationships/image" Target="../media/image37.png"/><Relationship Id="rId5" Type="http://schemas.openxmlformats.org/officeDocument/2006/relationships/image" Target="../media/image4.svg"/><Relationship Id="rId15" Type="http://schemas.openxmlformats.org/officeDocument/2006/relationships/image" Target="../media/image28.svg"/><Relationship Id="rId23" Type="http://schemas.openxmlformats.org/officeDocument/2006/relationships/image" Target="../media/image36.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image" Target="../media/image3.png"/><Relationship Id="rId9" Type="http://schemas.openxmlformats.org/officeDocument/2006/relationships/image" Target="../media/image22.svg"/><Relationship Id="rId14" Type="http://schemas.openxmlformats.org/officeDocument/2006/relationships/image" Target="../media/image27.png"/><Relationship Id="rId22"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9.jpg"/><Relationship Id="rId7"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0.png"/><Relationship Id="rId4" Type="http://schemas.microsoft.com/office/2017/06/relationships/model3d" Target="../media/model3d1.glb"/><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0.sv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0.png"/><Relationship Id="rId7" Type="http://schemas.openxmlformats.org/officeDocument/2006/relationships/image" Target="../media/image10.sv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2335377B-1CFD-7067-ECC8-315B3C265817}"/>
              </a:ext>
            </a:extLst>
          </p:cNvPr>
          <p:cNvSpPr/>
          <p:nvPr/>
        </p:nvSpPr>
        <p:spPr>
          <a:xfrm>
            <a:off x="165857" y="4967018"/>
            <a:ext cx="1438090" cy="1458479"/>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E2AFD300-14E7-3A1C-7FAD-2316626AC451}"/>
              </a:ext>
            </a:extLst>
          </p:cNvPr>
          <p:cNvSpPr/>
          <p:nvPr/>
        </p:nvSpPr>
        <p:spPr>
          <a:xfrm>
            <a:off x="346586" y="5177426"/>
            <a:ext cx="1076633" cy="1037664"/>
          </a:xfrm>
          <a:prstGeom prst="ellipse">
            <a:avLst/>
          </a:prstGeom>
          <a:solidFill>
            <a:schemeClr val="bg1"/>
          </a:solidFill>
          <a:ln>
            <a:solidFill>
              <a:schemeClr val="accent4"/>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8" name="Flowchart: Terminator 7">
            <a:extLst>
              <a:ext uri="{FF2B5EF4-FFF2-40B4-BE49-F238E27FC236}">
                <a16:creationId xmlns:a16="http://schemas.microsoft.com/office/drawing/2014/main" id="{AE82B91F-E737-5579-91A3-55ADB60DF1E4}"/>
              </a:ext>
            </a:extLst>
          </p:cNvPr>
          <p:cNvSpPr/>
          <p:nvPr/>
        </p:nvSpPr>
        <p:spPr>
          <a:xfrm>
            <a:off x="7079226" y="4239036"/>
            <a:ext cx="3775586" cy="1883390"/>
          </a:xfrm>
          <a:prstGeom prst="flowChartTerminator">
            <a:avLst/>
          </a:prstGeom>
          <a:effectLst>
            <a:glow rad="101600">
              <a:schemeClr val="accent2">
                <a:satMod val="175000"/>
                <a:alpha val="40000"/>
              </a:schemeClr>
            </a:glow>
            <a:outerShdw blurRad="63500" sx="102000" sy="102000" algn="ctr" rotWithShape="0">
              <a:prstClr val="black">
                <a:alpha val="40000"/>
              </a:prstClr>
            </a:outerShdw>
            <a:reflection blurRad="6350" stA="50000" endA="300" endPos="38500" dist="50800" dir="5400000" sy="-100000" algn="bl" rotWithShape="0"/>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9C6AE0F6-8945-34DF-E002-13E50447BD3F}"/>
              </a:ext>
            </a:extLst>
          </p:cNvPr>
          <p:cNvSpPr/>
          <p:nvPr/>
        </p:nvSpPr>
        <p:spPr>
          <a:xfrm>
            <a:off x="6014870" y="266060"/>
            <a:ext cx="5289755" cy="3608439"/>
          </a:xfrm>
          <a:prstGeom prst="roundRect">
            <a:avLst/>
          </a:prstGeom>
          <a:effectLst>
            <a:glow rad="139700">
              <a:schemeClr val="accent2">
                <a:satMod val="175000"/>
                <a:alpha val="40000"/>
              </a:schemeClr>
            </a:glow>
            <a:outerShdw blurRad="63500" sx="102000" sy="102000" algn="ctr" rotWithShape="0">
              <a:prstClr val="black">
                <a:alpha val="40000"/>
              </a:prstClr>
            </a:outerShdw>
            <a:reflection blurRad="6350" stA="52000" endA="300" endPos="35000" dir="5400000" sy="-100000" algn="bl" rotWithShape="0"/>
          </a:effectLst>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565DDE0-7616-C3B2-DBA5-2160BAE53E95}"/>
              </a:ext>
            </a:extLst>
          </p:cNvPr>
          <p:cNvSpPr>
            <a:spLocks noGrp="1"/>
          </p:cNvSpPr>
          <p:nvPr>
            <p:ph type="ctrTitle"/>
          </p:nvPr>
        </p:nvSpPr>
        <p:spPr>
          <a:xfrm>
            <a:off x="6076054" y="630750"/>
            <a:ext cx="4670323" cy="2387600"/>
          </a:xfrm>
          <a:effectLst>
            <a:outerShdw blurRad="50800" dist="38100" algn="l" rotWithShape="0">
              <a:prstClr val="black">
                <a:alpha val="40000"/>
              </a:prstClr>
            </a:outerShdw>
          </a:effectLst>
        </p:spPr>
        <p:txBody>
          <a:bodyPr>
            <a:noAutofit/>
          </a:bodyPr>
          <a:lstStyle/>
          <a:p>
            <a:r>
              <a:rPr lang="en-IN" sz="4800" b="1" dirty="0">
                <a:solidFill>
                  <a:schemeClr val="bg2"/>
                </a:solidFill>
                <a:latin typeface="Century" panose="02040604050505020304" pitchFamily="18" charset="0"/>
              </a:rPr>
              <a:t>FACE DETECTION SYSTEM</a:t>
            </a:r>
          </a:p>
        </p:txBody>
      </p:sp>
      <p:sp>
        <p:nvSpPr>
          <p:cNvPr id="3" name="Subtitle 2">
            <a:extLst>
              <a:ext uri="{FF2B5EF4-FFF2-40B4-BE49-F238E27FC236}">
                <a16:creationId xmlns:a16="http://schemas.microsoft.com/office/drawing/2014/main" id="{695D5F38-1E91-E163-AD08-009347DBF7E2}"/>
              </a:ext>
            </a:extLst>
          </p:cNvPr>
          <p:cNvSpPr>
            <a:spLocks noGrp="1"/>
          </p:cNvSpPr>
          <p:nvPr>
            <p:ph type="subTitle" idx="1"/>
          </p:nvPr>
        </p:nvSpPr>
        <p:spPr>
          <a:xfrm>
            <a:off x="7546257" y="4730802"/>
            <a:ext cx="2841523" cy="1366685"/>
          </a:xfrm>
          <a:effectLst>
            <a:outerShdw blurRad="50800" dist="38100" algn="l" rotWithShape="0">
              <a:prstClr val="black">
                <a:alpha val="40000"/>
              </a:prstClr>
            </a:outerShdw>
          </a:effectLst>
        </p:spPr>
        <p:txBody>
          <a:bodyPr/>
          <a:lstStyle/>
          <a:p>
            <a:r>
              <a:rPr lang="en-IN" dirty="0">
                <a:solidFill>
                  <a:schemeClr val="bg2"/>
                </a:solidFill>
                <a:latin typeface="Century" panose="02040604050505020304" pitchFamily="18" charset="0"/>
              </a:rPr>
              <a:t>Using Python and </a:t>
            </a:r>
            <a:r>
              <a:rPr lang="en-IN" dirty="0" err="1">
                <a:solidFill>
                  <a:schemeClr val="bg2"/>
                </a:solidFill>
                <a:latin typeface="Century" panose="02040604050505020304" pitchFamily="18" charset="0"/>
              </a:rPr>
              <a:t>Tkinter</a:t>
            </a:r>
            <a:r>
              <a:rPr lang="en-IN" dirty="0">
                <a:solidFill>
                  <a:schemeClr val="bg2"/>
                </a:solidFill>
                <a:latin typeface="Century" panose="02040604050505020304" pitchFamily="18" charset="0"/>
              </a:rPr>
              <a:t> GUI</a:t>
            </a:r>
          </a:p>
        </p:txBody>
      </p:sp>
      <p:pic>
        <p:nvPicPr>
          <p:cNvPr id="5" name="Graphic 4" descr="A robot with a raised arm">
            <a:extLst>
              <a:ext uri="{FF2B5EF4-FFF2-40B4-BE49-F238E27FC236}">
                <a16:creationId xmlns:a16="http://schemas.microsoft.com/office/drawing/2014/main" id="{3386152C-7319-A090-77BB-2ED5D92A55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9919" y="1665212"/>
            <a:ext cx="5720889" cy="5720889"/>
          </a:xfrm>
          <a:prstGeom prst="rect">
            <a:avLst/>
          </a:prstGeom>
          <a:effectLst>
            <a:outerShdw blurRad="63500" sx="102000" sy="102000" algn="ctr" rotWithShape="0">
              <a:prstClr val="black">
                <a:alpha val="40000"/>
              </a:prstClr>
            </a:outerShdw>
          </a:effectLst>
        </p:spPr>
      </p:pic>
      <p:pic>
        <p:nvPicPr>
          <p:cNvPr id="10" name="Graphic 9" descr="A wreath with olives and leaves">
            <a:extLst>
              <a:ext uri="{FF2B5EF4-FFF2-40B4-BE49-F238E27FC236}">
                <a16:creationId xmlns:a16="http://schemas.microsoft.com/office/drawing/2014/main" id="{3A0BFC17-3FFE-B812-83B7-C4B7563820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20562" y="-1452614"/>
            <a:ext cx="3530933" cy="3530933"/>
          </a:xfrm>
          <a:prstGeom prst="rect">
            <a:avLst/>
          </a:prstGeom>
        </p:spPr>
      </p:pic>
      <p:pic>
        <p:nvPicPr>
          <p:cNvPr id="12" name="Graphic 11" descr="A flower arrangement as ornament">
            <a:extLst>
              <a:ext uri="{FF2B5EF4-FFF2-40B4-BE49-F238E27FC236}">
                <a16:creationId xmlns:a16="http://schemas.microsoft.com/office/drawing/2014/main" id="{9954D3A7-E288-88A2-4749-BE689E300B3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9846" y="-429201"/>
            <a:ext cx="4225490" cy="4225490"/>
          </a:xfrm>
          <a:prstGeom prst="rect">
            <a:avLst/>
          </a:prstGeom>
        </p:spPr>
      </p:pic>
      <p:pic>
        <p:nvPicPr>
          <p:cNvPr id="14" name="Graphic 13" descr="A wreath with olives and leaves">
            <a:extLst>
              <a:ext uri="{FF2B5EF4-FFF2-40B4-BE49-F238E27FC236}">
                <a16:creationId xmlns:a16="http://schemas.microsoft.com/office/drawing/2014/main" id="{B807481B-0336-2A91-10C8-672E78C810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20546" y="-1726765"/>
            <a:ext cx="3210397" cy="3224981"/>
          </a:xfrm>
          <a:prstGeom prst="rect">
            <a:avLst/>
          </a:prstGeom>
        </p:spPr>
      </p:pic>
      <p:sp>
        <p:nvSpPr>
          <p:cNvPr id="15" name="Oval 14">
            <a:extLst>
              <a:ext uri="{FF2B5EF4-FFF2-40B4-BE49-F238E27FC236}">
                <a16:creationId xmlns:a16="http://schemas.microsoft.com/office/drawing/2014/main" id="{3BD56C78-660B-FD86-CE6D-34A211F93C3F}"/>
              </a:ext>
            </a:extLst>
          </p:cNvPr>
          <p:cNvSpPr/>
          <p:nvPr/>
        </p:nvSpPr>
        <p:spPr>
          <a:xfrm>
            <a:off x="432619" y="5270090"/>
            <a:ext cx="904569" cy="852336"/>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68537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9BB3264-50BA-CA39-1935-2D9396CBA15A}"/>
              </a:ext>
            </a:extLst>
          </p:cNvPr>
          <p:cNvGrpSpPr/>
          <p:nvPr/>
        </p:nvGrpSpPr>
        <p:grpSpPr>
          <a:xfrm>
            <a:off x="-941440" y="990600"/>
            <a:ext cx="889819" cy="604684"/>
            <a:chOff x="-941440" y="990600"/>
            <a:chExt cx="889819" cy="604684"/>
          </a:xfrm>
        </p:grpSpPr>
        <p:sp>
          <p:nvSpPr>
            <p:cNvPr id="5" name="Flowchart: Terminator 4">
              <a:extLst>
                <a:ext uri="{FF2B5EF4-FFF2-40B4-BE49-F238E27FC236}">
                  <a16:creationId xmlns:a16="http://schemas.microsoft.com/office/drawing/2014/main" id="{7DF07F7B-EAF9-9631-3E5C-3F03A74E2ED0}"/>
                </a:ext>
              </a:extLst>
            </p:cNvPr>
            <p:cNvSpPr/>
            <p:nvPr/>
          </p:nvSpPr>
          <p:spPr>
            <a:xfrm>
              <a:off x="-941440" y="990600"/>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4" name="Flowchart: Terminator 3">
              <a:extLst>
                <a:ext uri="{FF2B5EF4-FFF2-40B4-BE49-F238E27FC236}">
                  <a16:creationId xmlns:a16="http://schemas.microsoft.com/office/drawing/2014/main" id="{614A40AA-ABA1-29B9-A93D-7D6A4FC81A73}"/>
                </a:ext>
              </a:extLst>
            </p:cNvPr>
            <p:cNvSpPr/>
            <p:nvPr/>
          </p:nvSpPr>
          <p:spPr>
            <a:xfrm>
              <a:off x="-835742" y="1066800"/>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grpSp>
        <p:nvGrpSpPr>
          <p:cNvPr id="45" name="Group 44">
            <a:extLst>
              <a:ext uri="{FF2B5EF4-FFF2-40B4-BE49-F238E27FC236}">
                <a16:creationId xmlns:a16="http://schemas.microsoft.com/office/drawing/2014/main" id="{BE690426-0833-0729-43AE-5B4F60D051D6}"/>
              </a:ext>
            </a:extLst>
          </p:cNvPr>
          <p:cNvGrpSpPr/>
          <p:nvPr/>
        </p:nvGrpSpPr>
        <p:grpSpPr>
          <a:xfrm>
            <a:off x="641554" y="487441"/>
            <a:ext cx="10990007" cy="5645889"/>
            <a:chOff x="641554" y="487441"/>
            <a:chExt cx="10990007" cy="5645889"/>
          </a:xfrm>
        </p:grpSpPr>
        <p:sp>
          <p:nvSpPr>
            <p:cNvPr id="37" name="Rectangle: Diagonal Corners Snipped 36">
              <a:extLst>
                <a:ext uri="{FF2B5EF4-FFF2-40B4-BE49-F238E27FC236}">
                  <a16:creationId xmlns:a16="http://schemas.microsoft.com/office/drawing/2014/main" id="{218DCE8C-BC98-ABC4-BAE3-553D55335570}"/>
                </a:ext>
              </a:extLst>
            </p:cNvPr>
            <p:cNvSpPr/>
            <p:nvPr/>
          </p:nvSpPr>
          <p:spPr>
            <a:xfrm>
              <a:off x="1816503" y="5583446"/>
              <a:ext cx="5574890" cy="549884"/>
            </a:xfrm>
            <a:prstGeom prst="snip2DiagRect">
              <a:avLst/>
            </a:prstGeom>
            <a:solidFill>
              <a:schemeClr val="accent4">
                <a:lumMod val="20000"/>
                <a:lumOff val="8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4" name="Rectangle: Diagonal Corners Snipped 33">
              <a:extLst>
                <a:ext uri="{FF2B5EF4-FFF2-40B4-BE49-F238E27FC236}">
                  <a16:creationId xmlns:a16="http://schemas.microsoft.com/office/drawing/2014/main" id="{26D02CC2-2DA9-D7A3-8803-FD4BEC123DAA}"/>
                </a:ext>
              </a:extLst>
            </p:cNvPr>
            <p:cNvSpPr/>
            <p:nvPr/>
          </p:nvSpPr>
          <p:spPr>
            <a:xfrm>
              <a:off x="1816502" y="4652112"/>
              <a:ext cx="6121696" cy="604684"/>
            </a:xfrm>
            <a:prstGeom prst="snip2DiagRect">
              <a:avLst/>
            </a:prstGeom>
            <a:solidFill>
              <a:schemeClr val="accent4">
                <a:lumMod val="20000"/>
                <a:lumOff val="8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5" name="Rectangle: Diagonal Corners Snipped 34">
              <a:extLst>
                <a:ext uri="{FF2B5EF4-FFF2-40B4-BE49-F238E27FC236}">
                  <a16:creationId xmlns:a16="http://schemas.microsoft.com/office/drawing/2014/main" id="{73D7FF5D-1966-AAD4-E774-C9D3F982A564}"/>
                </a:ext>
              </a:extLst>
            </p:cNvPr>
            <p:cNvSpPr/>
            <p:nvPr/>
          </p:nvSpPr>
          <p:spPr>
            <a:xfrm>
              <a:off x="1816503" y="3798612"/>
              <a:ext cx="4918594" cy="639737"/>
            </a:xfrm>
            <a:prstGeom prst="snip2DiagRect">
              <a:avLst/>
            </a:prstGeom>
            <a:solidFill>
              <a:schemeClr val="accent4">
                <a:lumMod val="20000"/>
                <a:lumOff val="8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6" name="Rectangle: Diagonal Corners Snipped 35">
              <a:extLst>
                <a:ext uri="{FF2B5EF4-FFF2-40B4-BE49-F238E27FC236}">
                  <a16:creationId xmlns:a16="http://schemas.microsoft.com/office/drawing/2014/main" id="{4EECA18D-60B8-E570-D851-E5A479D503A6}"/>
                </a:ext>
              </a:extLst>
            </p:cNvPr>
            <p:cNvSpPr/>
            <p:nvPr/>
          </p:nvSpPr>
          <p:spPr>
            <a:xfrm>
              <a:off x="1850921" y="2983384"/>
              <a:ext cx="4884176" cy="604684"/>
            </a:xfrm>
            <a:prstGeom prst="snip2DiagRect">
              <a:avLst/>
            </a:prstGeom>
            <a:solidFill>
              <a:schemeClr val="accent4">
                <a:lumMod val="20000"/>
                <a:lumOff val="8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3" name="Rectangle: Diagonal Corners Snipped 32">
              <a:extLst>
                <a:ext uri="{FF2B5EF4-FFF2-40B4-BE49-F238E27FC236}">
                  <a16:creationId xmlns:a16="http://schemas.microsoft.com/office/drawing/2014/main" id="{29A926AE-7C9A-72F4-89F7-D59D12021980}"/>
                </a:ext>
              </a:extLst>
            </p:cNvPr>
            <p:cNvSpPr/>
            <p:nvPr/>
          </p:nvSpPr>
          <p:spPr>
            <a:xfrm>
              <a:off x="1828787" y="2093980"/>
              <a:ext cx="3079961" cy="639737"/>
            </a:xfrm>
            <a:prstGeom prst="snip2DiagRect">
              <a:avLst/>
            </a:prstGeom>
            <a:solidFill>
              <a:schemeClr val="accent4">
                <a:lumMod val="20000"/>
                <a:lumOff val="80000"/>
              </a:schemeClr>
            </a:solidFill>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D3B570FB-964E-8520-83DE-58D50D4E074F}"/>
                </a:ext>
              </a:extLst>
            </p:cNvPr>
            <p:cNvSpPr/>
            <p:nvPr/>
          </p:nvSpPr>
          <p:spPr>
            <a:xfrm>
              <a:off x="7039896" y="487441"/>
              <a:ext cx="4591665" cy="1189704"/>
            </a:xfrm>
            <a:prstGeom prst="roundRect">
              <a:avLst/>
            </a:prstGeom>
            <a:effectLst>
              <a:innerShdw blurRad="63500" dist="50800" dir="13500000">
                <a:prstClr val="black">
                  <a:alpha val="50000"/>
                </a:prstClr>
              </a:innerShdw>
              <a:reflection blurRad="6350" stA="52000" endA="300" endPos="35000" dir="5400000" sy="-100000" algn="bl" rotWithShape="0"/>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E8155554-34C8-093B-505B-B3853732B8DE}"/>
                </a:ext>
              </a:extLst>
            </p:cNvPr>
            <p:cNvSpPr txBox="1"/>
            <p:nvPr/>
          </p:nvSpPr>
          <p:spPr>
            <a:xfrm>
              <a:off x="7295535" y="648929"/>
              <a:ext cx="4336026" cy="769441"/>
            </a:xfrm>
            <a:prstGeom prst="rect">
              <a:avLst/>
            </a:prstGeom>
            <a:noFill/>
            <a:effectLst>
              <a:outerShdw blurRad="50800" dist="38100" algn="l" rotWithShape="0">
                <a:prstClr val="black">
                  <a:alpha val="40000"/>
                </a:prstClr>
              </a:outerShdw>
              <a:reflection blurRad="6350" stA="52000" endA="300" endPos="35000" dir="5400000" sy="-100000" algn="bl" rotWithShape="0"/>
            </a:effectLst>
          </p:spPr>
          <p:txBody>
            <a:bodyPr wrap="square" rtlCol="0">
              <a:spAutoFit/>
            </a:bodyPr>
            <a:lstStyle/>
            <a:p>
              <a:r>
                <a:rPr lang="en-IN" sz="4400" dirty="0">
                  <a:solidFill>
                    <a:schemeClr val="bg2"/>
                  </a:solidFill>
                </a:rPr>
                <a:t>TABLE CONTENTS</a:t>
              </a:r>
            </a:p>
          </p:txBody>
        </p:sp>
        <p:grpSp>
          <p:nvGrpSpPr>
            <p:cNvPr id="7" name="Group 6">
              <a:extLst>
                <a:ext uri="{FF2B5EF4-FFF2-40B4-BE49-F238E27FC236}">
                  <a16:creationId xmlns:a16="http://schemas.microsoft.com/office/drawing/2014/main" id="{4377A04D-22D8-EFAB-C26A-E4427E259315}"/>
                </a:ext>
              </a:extLst>
            </p:cNvPr>
            <p:cNvGrpSpPr/>
            <p:nvPr/>
          </p:nvGrpSpPr>
          <p:grpSpPr>
            <a:xfrm>
              <a:off x="641554" y="2062316"/>
              <a:ext cx="889819" cy="604684"/>
              <a:chOff x="641554" y="1211826"/>
              <a:chExt cx="889819" cy="604684"/>
            </a:xfrm>
          </p:grpSpPr>
          <p:sp>
            <p:nvSpPr>
              <p:cNvPr id="8" name="Flowchart: Terminator 7">
                <a:extLst>
                  <a:ext uri="{FF2B5EF4-FFF2-40B4-BE49-F238E27FC236}">
                    <a16:creationId xmlns:a16="http://schemas.microsoft.com/office/drawing/2014/main" id="{89F98305-61E8-E27F-C7F4-345DCFC1D803}"/>
                  </a:ext>
                </a:extLst>
              </p:cNvPr>
              <p:cNvSpPr/>
              <p:nvPr/>
            </p:nvSpPr>
            <p:spPr>
              <a:xfrm>
                <a:off x="641554" y="1211826"/>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9" name="Flowchart: Terminator 8">
                <a:extLst>
                  <a:ext uri="{FF2B5EF4-FFF2-40B4-BE49-F238E27FC236}">
                    <a16:creationId xmlns:a16="http://schemas.microsoft.com/office/drawing/2014/main" id="{C6AAE890-C60F-8E05-E9A4-E9F0577ECC6B}"/>
                  </a:ext>
                </a:extLst>
              </p:cNvPr>
              <p:cNvSpPr/>
              <p:nvPr/>
            </p:nvSpPr>
            <p:spPr>
              <a:xfrm>
                <a:off x="747252" y="1288026"/>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grpSp>
          <p:nvGrpSpPr>
            <p:cNvPr id="10" name="Group 9">
              <a:extLst>
                <a:ext uri="{FF2B5EF4-FFF2-40B4-BE49-F238E27FC236}">
                  <a16:creationId xmlns:a16="http://schemas.microsoft.com/office/drawing/2014/main" id="{115BF0E4-01FE-A46F-7FF2-FA3C7A208B63}"/>
                </a:ext>
              </a:extLst>
            </p:cNvPr>
            <p:cNvGrpSpPr/>
            <p:nvPr/>
          </p:nvGrpSpPr>
          <p:grpSpPr>
            <a:xfrm>
              <a:off x="641554" y="2912806"/>
              <a:ext cx="889819" cy="604684"/>
              <a:chOff x="641554" y="1211826"/>
              <a:chExt cx="889819" cy="604684"/>
            </a:xfrm>
          </p:grpSpPr>
          <p:sp>
            <p:nvSpPr>
              <p:cNvPr id="11" name="Flowchart: Terminator 10">
                <a:extLst>
                  <a:ext uri="{FF2B5EF4-FFF2-40B4-BE49-F238E27FC236}">
                    <a16:creationId xmlns:a16="http://schemas.microsoft.com/office/drawing/2014/main" id="{37EE19A4-7876-30C8-08D5-607E4101DF17}"/>
                  </a:ext>
                </a:extLst>
              </p:cNvPr>
              <p:cNvSpPr/>
              <p:nvPr/>
            </p:nvSpPr>
            <p:spPr>
              <a:xfrm>
                <a:off x="641554" y="1211826"/>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12" name="Flowchart: Terminator 11">
                <a:extLst>
                  <a:ext uri="{FF2B5EF4-FFF2-40B4-BE49-F238E27FC236}">
                    <a16:creationId xmlns:a16="http://schemas.microsoft.com/office/drawing/2014/main" id="{5487CB29-3EC9-6BC8-B714-D14F363359BA}"/>
                  </a:ext>
                </a:extLst>
              </p:cNvPr>
              <p:cNvSpPr/>
              <p:nvPr/>
            </p:nvSpPr>
            <p:spPr>
              <a:xfrm>
                <a:off x="747252" y="1288026"/>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grpSp>
          <p:nvGrpSpPr>
            <p:cNvPr id="13" name="Group 12">
              <a:extLst>
                <a:ext uri="{FF2B5EF4-FFF2-40B4-BE49-F238E27FC236}">
                  <a16:creationId xmlns:a16="http://schemas.microsoft.com/office/drawing/2014/main" id="{2165A4AD-BD21-4303-37C9-1CC8C81DEFF8}"/>
                </a:ext>
              </a:extLst>
            </p:cNvPr>
            <p:cNvGrpSpPr/>
            <p:nvPr/>
          </p:nvGrpSpPr>
          <p:grpSpPr>
            <a:xfrm>
              <a:off x="641554" y="3763296"/>
              <a:ext cx="889819" cy="604684"/>
              <a:chOff x="641554" y="1211826"/>
              <a:chExt cx="889819" cy="604684"/>
            </a:xfrm>
          </p:grpSpPr>
          <p:sp>
            <p:nvSpPr>
              <p:cNvPr id="14" name="Flowchart: Terminator 13">
                <a:extLst>
                  <a:ext uri="{FF2B5EF4-FFF2-40B4-BE49-F238E27FC236}">
                    <a16:creationId xmlns:a16="http://schemas.microsoft.com/office/drawing/2014/main" id="{F16B50C5-4730-D31E-E697-043E49EEF747}"/>
                  </a:ext>
                </a:extLst>
              </p:cNvPr>
              <p:cNvSpPr/>
              <p:nvPr/>
            </p:nvSpPr>
            <p:spPr>
              <a:xfrm>
                <a:off x="641554" y="1211826"/>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15" name="Flowchart: Terminator 14">
                <a:extLst>
                  <a:ext uri="{FF2B5EF4-FFF2-40B4-BE49-F238E27FC236}">
                    <a16:creationId xmlns:a16="http://schemas.microsoft.com/office/drawing/2014/main" id="{1E6D1B27-ECFD-D4FE-BC32-E321A38671A2}"/>
                  </a:ext>
                </a:extLst>
              </p:cNvPr>
              <p:cNvSpPr/>
              <p:nvPr/>
            </p:nvSpPr>
            <p:spPr>
              <a:xfrm>
                <a:off x="747252" y="1288026"/>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2C2725DD-BB7D-786F-282A-D6219F10662C}"/>
                </a:ext>
              </a:extLst>
            </p:cNvPr>
            <p:cNvGrpSpPr/>
            <p:nvPr/>
          </p:nvGrpSpPr>
          <p:grpSpPr>
            <a:xfrm>
              <a:off x="641554" y="4613786"/>
              <a:ext cx="889819" cy="604684"/>
              <a:chOff x="641554" y="1211826"/>
              <a:chExt cx="889819" cy="604684"/>
            </a:xfrm>
          </p:grpSpPr>
          <p:sp>
            <p:nvSpPr>
              <p:cNvPr id="17" name="Flowchart: Terminator 16">
                <a:extLst>
                  <a:ext uri="{FF2B5EF4-FFF2-40B4-BE49-F238E27FC236}">
                    <a16:creationId xmlns:a16="http://schemas.microsoft.com/office/drawing/2014/main" id="{5F91C999-4912-6573-07FF-DA245FE73236}"/>
                  </a:ext>
                </a:extLst>
              </p:cNvPr>
              <p:cNvSpPr/>
              <p:nvPr/>
            </p:nvSpPr>
            <p:spPr>
              <a:xfrm>
                <a:off x="641554" y="1211826"/>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18" name="Flowchart: Terminator 17">
                <a:extLst>
                  <a:ext uri="{FF2B5EF4-FFF2-40B4-BE49-F238E27FC236}">
                    <a16:creationId xmlns:a16="http://schemas.microsoft.com/office/drawing/2014/main" id="{7156CD3B-C7FF-653F-4575-DD491EB4FBC6}"/>
                  </a:ext>
                </a:extLst>
              </p:cNvPr>
              <p:cNvSpPr/>
              <p:nvPr/>
            </p:nvSpPr>
            <p:spPr>
              <a:xfrm>
                <a:off x="747252" y="1288026"/>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60577CA0-8E6B-3207-8EE8-60C499327FAC}"/>
                </a:ext>
              </a:extLst>
            </p:cNvPr>
            <p:cNvGrpSpPr/>
            <p:nvPr/>
          </p:nvGrpSpPr>
          <p:grpSpPr>
            <a:xfrm>
              <a:off x="641554" y="5464276"/>
              <a:ext cx="889819" cy="604684"/>
              <a:chOff x="641554" y="1211826"/>
              <a:chExt cx="889819" cy="604684"/>
            </a:xfrm>
          </p:grpSpPr>
          <p:sp>
            <p:nvSpPr>
              <p:cNvPr id="20" name="Flowchart: Terminator 19">
                <a:extLst>
                  <a:ext uri="{FF2B5EF4-FFF2-40B4-BE49-F238E27FC236}">
                    <a16:creationId xmlns:a16="http://schemas.microsoft.com/office/drawing/2014/main" id="{D3E04ABC-3430-4BF5-E5ED-BA65A4229362}"/>
                  </a:ext>
                </a:extLst>
              </p:cNvPr>
              <p:cNvSpPr/>
              <p:nvPr/>
            </p:nvSpPr>
            <p:spPr>
              <a:xfrm>
                <a:off x="641554" y="1211826"/>
                <a:ext cx="889819" cy="604684"/>
              </a:xfrm>
              <a:prstGeom prst="flowChartTerminator">
                <a:avLst/>
              </a:prstGeom>
              <a:solidFill>
                <a:schemeClr val="bg1"/>
              </a:solidFill>
              <a:ln>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21" name="Flowchart: Terminator 20">
                <a:extLst>
                  <a:ext uri="{FF2B5EF4-FFF2-40B4-BE49-F238E27FC236}">
                    <a16:creationId xmlns:a16="http://schemas.microsoft.com/office/drawing/2014/main" id="{D1AD9811-04ED-255A-580F-83E1212566C8}"/>
                  </a:ext>
                </a:extLst>
              </p:cNvPr>
              <p:cNvSpPr/>
              <p:nvPr/>
            </p:nvSpPr>
            <p:spPr>
              <a:xfrm>
                <a:off x="747252" y="1288026"/>
                <a:ext cx="678425" cy="452284"/>
              </a:xfrm>
              <a:prstGeom prst="flowChartTerminator">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grpSp>
        <p:sp>
          <p:nvSpPr>
            <p:cNvPr id="23" name="TextBox 22">
              <a:extLst>
                <a:ext uri="{FF2B5EF4-FFF2-40B4-BE49-F238E27FC236}">
                  <a16:creationId xmlns:a16="http://schemas.microsoft.com/office/drawing/2014/main" id="{99C4E698-D009-2E65-0958-2C4566020AD1}"/>
                </a:ext>
              </a:extLst>
            </p:cNvPr>
            <p:cNvSpPr txBox="1"/>
            <p:nvPr/>
          </p:nvSpPr>
          <p:spPr>
            <a:xfrm>
              <a:off x="875067" y="2119303"/>
              <a:ext cx="550607" cy="461665"/>
            </a:xfrm>
            <a:prstGeom prst="rect">
              <a:avLst/>
            </a:prstGeom>
            <a:noFill/>
          </p:spPr>
          <p:txBody>
            <a:bodyPr wrap="square" rtlCol="0">
              <a:spAutoFit/>
            </a:bodyPr>
            <a:lstStyle/>
            <a:p>
              <a:r>
                <a:rPr lang="en-IN" sz="2400" dirty="0">
                  <a:latin typeface="Century" panose="02040604050505020304" pitchFamily="18" charset="0"/>
                </a:rPr>
                <a:t>01</a:t>
              </a:r>
            </a:p>
          </p:txBody>
        </p:sp>
        <p:sp>
          <p:nvSpPr>
            <p:cNvPr id="24" name="TextBox 23">
              <a:extLst>
                <a:ext uri="{FF2B5EF4-FFF2-40B4-BE49-F238E27FC236}">
                  <a16:creationId xmlns:a16="http://schemas.microsoft.com/office/drawing/2014/main" id="{C8D54F2D-3D7B-3175-9DF3-BC3D1B89AB71}"/>
                </a:ext>
              </a:extLst>
            </p:cNvPr>
            <p:cNvSpPr txBox="1"/>
            <p:nvPr/>
          </p:nvSpPr>
          <p:spPr>
            <a:xfrm>
              <a:off x="875068" y="2967335"/>
              <a:ext cx="550607" cy="461665"/>
            </a:xfrm>
            <a:prstGeom prst="rect">
              <a:avLst/>
            </a:prstGeom>
            <a:noFill/>
          </p:spPr>
          <p:txBody>
            <a:bodyPr wrap="square" rtlCol="0">
              <a:spAutoFit/>
            </a:bodyPr>
            <a:lstStyle/>
            <a:p>
              <a:r>
                <a:rPr lang="en-IN" sz="2400" dirty="0">
                  <a:latin typeface="Century" panose="02040604050505020304" pitchFamily="18" charset="0"/>
                </a:rPr>
                <a:t>02</a:t>
              </a:r>
            </a:p>
          </p:txBody>
        </p:sp>
        <p:sp>
          <p:nvSpPr>
            <p:cNvPr id="25" name="TextBox 24">
              <a:extLst>
                <a:ext uri="{FF2B5EF4-FFF2-40B4-BE49-F238E27FC236}">
                  <a16:creationId xmlns:a16="http://schemas.microsoft.com/office/drawing/2014/main" id="{736C1990-3124-1335-3E82-EC22EB5898EA}"/>
                </a:ext>
              </a:extLst>
            </p:cNvPr>
            <p:cNvSpPr txBox="1"/>
            <p:nvPr/>
          </p:nvSpPr>
          <p:spPr>
            <a:xfrm>
              <a:off x="875069" y="3810902"/>
              <a:ext cx="550607" cy="461665"/>
            </a:xfrm>
            <a:prstGeom prst="rect">
              <a:avLst/>
            </a:prstGeom>
            <a:noFill/>
          </p:spPr>
          <p:txBody>
            <a:bodyPr wrap="square" rtlCol="0">
              <a:spAutoFit/>
            </a:bodyPr>
            <a:lstStyle/>
            <a:p>
              <a:r>
                <a:rPr lang="en-IN" sz="2400" dirty="0">
                  <a:latin typeface="Century" panose="02040604050505020304" pitchFamily="18" charset="0"/>
                </a:rPr>
                <a:t>03</a:t>
              </a:r>
            </a:p>
          </p:txBody>
        </p:sp>
        <p:sp>
          <p:nvSpPr>
            <p:cNvPr id="26" name="TextBox 25">
              <a:extLst>
                <a:ext uri="{FF2B5EF4-FFF2-40B4-BE49-F238E27FC236}">
                  <a16:creationId xmlns:a16="http://schemas.microsoft.com/office/drawing/2014/main" id="{677649A0-17E0-5C9F-0E4F-DB87B4AF6184}"/>
                </a:ext>
              </a:extLst>
            </p:cNvPr>
            <p:cNvSpPr txBox="1"/>
            <p:nvPr/>
          </p:nvSpPr>
          <p:spPr>
            <a:xfrm>
              <a:off x="875070" y="4680605"/>
              <a:ext cx="550607" cy="461665"/>
            </a:xfrm>
            <a:prstGeom prst="rect">
              <a:avLst/>
            </a:prstGeom>
            <a:noFill/>
          </p:spPr>
          <p:txBody>
            <a:bodyPr wrap="square" rtlCol="0">
              <a:spAutoFit/>
            </a:bodyPr>
            <a:lstStyle/>
            <a:p>
              <a:r>
                <a:rPr lang="en-IN" sz="2400" dirty="0">
                  <a:latin typeface="Century" panose="02040604050505020304" pitchFamily="18" charset="0"/>
                </a:rPr>
                <a:t>04</a:t>
              </a:r>
            </a:p>
          </p:txBody>
        </p:sp>
        <p:sp>
          <p:nvSpPr>
            <p:cNvPr id="27" name="TextBox 26">
              <a:extLst>
                <a:ext uri="{FF2B5EF4-FFF2-40B4-BE49-F238E27FC236}">
                  <a16:creationId xmlns:a16="http://schemas.microsoft.com/office/drawing/2014/main" id="{0A098F6C-4F94-7AC4-6815-92243EE6B20E}"/>
                </a:ext>
              </a:extLst>
            </p:cNvPr>
            <p:cNvSpPr txBox="1"/>
            <p:nvPr/>
          </p:nvSpPr>
          <p:spPr>
            <a:xfrm>
              <a:off x="875070" y="5531095"/>
              <a:ext cx="550607" cy="461665"/>
            </a:xfrm>
            <a:prstGeom prst="rect">
              <a:avLst/>
            </a:prstGeom>
            <a:noFill/>
          </p:spPr>
          <p:txBody>
            <a:bodyPr wrap="square" rtlCol="0">
              <a:spAutoFit/>
            </a:bodyPr>
            <a:lstStyle/>
            <a:p>
              <a:r>
                <a:rPr lang="en-IN" sz="2400" dirty="0">
                  <a:latin typeface="Century" panose="02040604050505020304" pitchFamily="18" charset="0"/>
                </a:rPr>
                <a:t>05</a:t>
              </a:r>
            </a:p>
          </p:txBody>
        </p:sp>
        <p:sp>
          <p:nvSpPr>
            <p:cNvPr id="28" name="TextBox 27">
              <a:extLst>
                <a:ext uri="{FF2B5EF4-FFF2-40B4-BE49-F238E27FC236}">
                  <a16:creationId xmlns:a16="http://schemas.microsoft.com/office/drawing/2014/main" id="{987E6660-6F93-6EF9-4241-432DC459CE88}"/>
                </a:ext>
              </a:extLst>
            </p:cNvPr>
            <p:cNvSpPr txBox="1"/>
            <p:nvPr/>
          </p:nvSpPr>
          <p:spPr>
            <a:xfrm>
              <a:off x="1956619" y="2131229"/>
              <a:ext cx="6853084" cy="52322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IN" sz="2800" b="1" dirty="0">
                  <a:solidFill>
                    <a:schemeClr val="accent2"/>
                  </a:solidFill>
                  <a:latin typeface="Times New Roman" panose="02020603050405020304" pitchFamily="18" charset="0"/>
                  <a:cs typeface="Times New Roman" panose="02020603050405020304" pitchFamily="18" charset="0"/>
                </a:rPr>
                <a:t>Introduction</a:t>
              </a:r>
            </a:p>
          </p:txBody>
        </p:sp>
        <p:sp>
          <p:nvSpPr>
            <p:cNvPr id="29" name="TextBox 28">
              <a:extLst>
                <a:ext uri="{FF2B5EF4-FFF2-40B4-BE49-F238E27FC236}">
                  <a16:creationId xmlns:a16="http://schemas.microsoft.com/office/drawing/2014/main" id="{8ECF74A4-0485-2B27-CEDD-13B6E82EF454}"/>
                </a:ext>
              </a:extLst>
            </p:cNvPr>
            <p:cNvSpPr txBox="1"/>
            <p:nvPr/>
          </p:nvSpPr>
          <p:spPr>
            <a:xfrm>
              <a:off x="1956619" y="2973136"/>
              <a:ext cx="5574890" cy="523220"/>
            </a:xfrm>
            <a:prstGeom prst="rect">
              <a:avLst/>
            </a:prstGeom>
            <a:noFill/>
            <a:effectLst>
              <a:outerShdw blurRad="50800" dist="38100" algn="l" rotWithShape="0">
                <a:prstClr val="black">
                  <a:alpha val="40000"/>
                </a:prstClr>
              </a:outerShdw>
            </a:effectLst>
          </p:spPr>
          <p:txBody>
            <a:bodyPr wrap="square" rtlCol="0">
              <a:spAutoFit/>
            </a:bodyPr>
            <a:lstStyle/>
            <a:p>
              <a:r>
                <a:rPr lang="en-IN" sz="2800" b="1" dirty="0">
                  <a:solidFill>
                    <a:schemeClr val="accent2"/>
                  </a:solidFill>
                  <a:latin typeface="Times New Roman" panose="02020603050405020304" pitchFamily="18" charset="0"/>
                  <a:cs typeface="Times New Roman" panose="02020603050405020304" pitchFamily="18" charset="0"/>
                </a:rPr>
                <a:t>Problem statement and scope</a:t>
              </a:r>
            </a:p>
          </p:txBody>
        </p:sp>
        <p:sp>
          <p:nvSpPr>
            <p:cNvPr id="30" name="TextBox 29">
              <a:extLst>
                <a:ext uri="{FF2B5EF4-FFF2-40B4-BE49-F238E27FC236}">
                  <a16:creationId xmlns:a16="http://schemas.microsoft.com/office/drawing/2014/main" id="{7D93294B-77D1-FFFE-0EBE-06F6D2AAC926}"/>
                </a:ext>
              </a:extLst>
            </p:cNvPr>
            <p:cNvSpPr txBox="1"/>
            <p:nvPr/>
          </p:nvSpPr>
          <p:spPr>
            <a:xfrm>
              <a:off x="1956619" y="3819350"/>
              <a:ext cx="5574890" cy="558743"/>
            </a:xfrm>
            <a:prstGeom prst="rect">
              <a:avLst/>
            </a:prstGeom>
            <a:noFill/>
            <a:effectLst>
              <a:outerShdw blurRad="50800" dist="38100" algn="l" rotWithShape="0">
                <a:prstClr val="black">
                  <a:alpha val="40000"/>
                </a:prstClr>
              </a:outerShdw>
            </a:effectLst>
          </p:spPr>
          <p:txBody>
            <a:bodyPr wrap="square" rtlCol="0">
              <a:spAutoFit/>
            </a:bodyPr>
            <a:lstStyle/>
            <a:p>
              <a:pPr marL="0" lvl="0" indent="0" algn="l" rtl="0">
                <a:lnSpc>
                  <a:spcPct val="115000"/>
                </a:lnSpc>
                <a:spcBef>
                  <a:spcPts val="0"/>
                </a:spcBef>
                <a:spcAft>
                  <a:spcPts val="0"/>
                </a:spcAft>
                <a:buNone/>
              </a:pPr>
              <a:r>
                <a:rPr lang="en-IN" sz="2800" b="1" dirty="0">
                  <a:solidFill>
                    <a:schemeClr val="accent2"/>
                  </a:solidFill>
                  <a:latin typeface="Times New Roman" panose="02020603050405020304" pitchFamily="18" charset="0"/>
                  <a:cs typeface="Times New Roman" panose="02020603050405020304" pitchFamily="18" charset="0"/>
                </a:rPr>
                <a:t>Methodologies</a:t>
              </a:r>
            </a:p>
          </p:txBody>
        </p:sp>
        <p:sp>
          <p:nvSpPr>
            <p:cNvPr id="31" name="TextBox 30">
              <a:extLst>
                <a:ext uri="{FF2B5EF4-FFF2-40B4-BE49-F238E27FC236}">
                  <a16:creationId xmlns:a16="http://schemas.microsoft.com/office/drawing/2014/main" id="{C3BA12F8-E718-656A-DA51-C9E7C2347403}"/>
                </a:ext>
              </a:extLst>
            </p:cNvPr>
            <p:cNvSpPr txBox="1"/>
            <p:nvPr/>
          </p:nvSpPr>
          <p:spPr>
            <a:xfrm>
              <a:off x="1954777" y="4659634"/>
              <a:ext cx="6505272" cy="523220"/>
            </a:xfrm>
            <a:prstGeom prst="rect">
              <a:avLst/>
            </a:prstGeom>
            <a:noFill/>
            <a:effectLst>
              <a:outerShdw blurRad="50800" dist="38100" algn="l" rotWithShape="0">
                <a:prstClr val="black">
                  <a:alpha val="40000"/>
                </a:prstClr>
              </a:outerShdw>
            </a:effectLst>
          </p:spPr>
          <p:txBody>
            <a:bodyPr wrap="square" rtlCol="0">
              <a:spAutoFit/>
            </a:bodyPr>
            <a:lstStyle/>
            <a:p>
              <a:r>
                <a:rPr lang="en-IN" sz="2800" b="1" dirty="0">
                  <a:solidFill>
                    <a:schemeClr val="accent2"/>
                  </a:solidFill>
                  <a:latin typeface="Times New Roman" panose="02020603050405020304" pitchFamily="18" charset="0"/>
                  <a:cs typeface="Times New Roman" panose="02020603050405020304" pitchFamily="18" charset="0"/>
                </a:rPr>
                <a:t>System flow diagram &amp; Design Details </a:t>
              </a:r>
            </a:p>
          </p:txBody>
        </p:sp>
        <p:sp>
          <p:nvSpPr>
            <p:cNvPr id="32" name="TextBox 31">
              <a:extLst>
                <a:ext uri="{FF2B5EF4-FFF2-40B4-BE49-F238E27FC236}">
                  <a16:creationId xmlns:a16="http://schemas.microsoft.com/office/drawing/2014/main" id="{93328C66-FB88-474A-CB08-1F4C47C75BCD}"/>
                </a:ext>
              </a:extLst>
            </p:cNvPr>
            <p:cNvSpPr txBox="1"/>
            <p:nvPr/>
          </p:nvSpPr>
          <p:spPr>
            <a:xfrm>
              <a:off x="1954777" y="5559926"/>
              <a:ext cx="5574890" cy="523220"/>
            </a:xfrm>
            <a:prstGeom prst="rect">
              <a:avLst/>
            </a:prstGeom>
            <a:noFill/>
            <a:effectLst>
              <a:outerShdw blurRad="50800" dist="38100" algn="l" rotWithShape="0">
                <a:prstClr val="black">
                  <a:alpha val="40000"/>
                </a:prstClr>
              </a:outerShdw>
            </a:effectLst>
          </p:spPr>
          <p:txBody>
            <a:bodyPr wrap="square" rtlCol="0">
              <a:spAutoFit/>
            </a:bodyPr>
            <a:lstStyle/>
            <a:p>
              <a:r>
                <a:rPr lang="en-IN" sz="2800" b="1" dirty="0">
                  <a:solidFill>
                    <a:schemeClr val="accent2"/>
                  </a:solidFill>
                  <a:latin typeface="Times New Roman" panose="02020603050405020304" pitchFamily="18" charset="0"/>
                  <a:cs typeface="Times New Roman" panose="02020603050405020304" pitchFamily="18" charset="0"/>
                </a:rPr>
                <a:t>Hardware and software details</a:t>
              </a:r>
            </a:p>
          </p:txBody>
        </p:sp>
      </p:grpSp>
      <p:pic>
        <p:nvPicPr>
          <p:cNvPr id="39" name="Graphic 38" descr="Laptop with phone and calculator">
            <a:extLst>
              <a:ext uri="{FF2B5EF4-FFF2-40B4-BE49-F238E27FC236}">
                <a16:creationId xmlns:a16="http://schemas.microsoft.com/office/drawing/2014/main" id="{17D42AB4-2E4D-D939-6D54-4F289FB77B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35365" y="1830565"/>
            <a:ext cx="4884004" cy="4884004"/>
          </a:xfrm>
          <a:prstGeom prst="rect">
            <a:avLst/>
          </a:prstGeom>
          <a:effectLst>
            <a:innerShdw blurRad="63500" dist="50800" dir="10800000">
              <a:prstClr val="black">
                <a:alpha val="50000"/>
              </a:prstClr>
            </a:innerShdw>
          </a:effectLst>
        </p:spPr>
      </p:pic>
      <p:pic>
        <p:nvPicPr>
          <p:cNvPr id="41" name="Graphic 40" descr="A collection of circles in various sizes and patterns">
            <a:extLst>
              <a:ext uri="{FF2B5EF4-FFF2-40B4-BE49-F238E27FC236}">
                <a16:creationId xmlns:a16="http://schemas.microsoft.com/office/drawing/2014/main" id="{3F73C0B2-7EF6-6DDF-5926-D7301A7857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5097" y="5434722"/>
            <a:ext cx="2770239" cy="2770239"/>
          </a:xfrm>
          <a:prstGeom prst="rect">
            <a:avLst/>
          </a:prstGeom>
        </p:spPr>
      </p:pic>
      <p:pic>
        <p:nvPicPr>
          <p:cNvPr id="43" name="Graphic 42" descr="A wreath with olives and leaves">
            <a:extLst>
              <a:ext uri="{FF2B5EF4-FFF2-40B4-BE49-F238E27FC236}">
                <a16:creationId xmlns:a16="http://schemas.microsoft.com/office/drawing/2014/main" id="{7AC6D1DC-147F-E38B-7497-17FF135799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99" y="-2656739"/>
            <a:ext cx="4564608" cy="4564608"/>
          </a:xfrm>
          <a:prstGeom prst="rect">
            <a:avLst/>
          </a:prstGeom>
        </p:spPr>
      </p:pic>
      <p:pic>
        <p:nvPicPr>
          <p:cNvPr id="44" name="Graphic 43" descr="A wreath with olives and leaves">
            <a:extLst>
              <a:ext uri="{FF2B5EF4-FFF2-40B4-BE49-F238E27FC236}">
                <a16:creationId xmlns:a16="http://schemas.microsoft.com/office/drawing/2014/main" id="{CDC9A405-8E0B-11B6-DA99-C0C02367235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69657" y="-2495048"/>
            <a:ext cx="4262936" cy="4262936"/>
          </a:xfrm>
          <a:prstGeom prst="rect">
            <a:avLst/>
          </a:prstGeom>
        </p:spPr>
      </p:pic>
    </p:spTree>
    <p:extLst>
      <p:ext uri="{BB962C8B-B14F-4D97-AF65-F5344CB8AC3E}">
        <p14:creationId xmlns:p14="http://schemas.microsoft.com/office/powerpoint/2010/main" val="1881734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E135BBB-9ADC-C97D-5A1B-5FE01A1A087C}"/>
              </a:ext>
            </a:extLst>
          </p:cNvPr>
          <p:cNvSpPr/>
          <p:nvPr/>
        </p:nvSpPr>
        <p:spPr>
          <a:xfrm>
            <a:off x="3488757" y="742514"/>
            <a:ext cx="6361472" cy="47981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3859160" y="1224115"/>
            <a:ext cx="5687961" cy="3687097"/>
          </a:xfrm>
          <a:prstGeom prst="roundRect">
            <a:avLst/>
          </a:prstGeom>
          <a:solidFill>
            <a:schemeClr val="accent4">
              <a:lumMod val="20000"/>
              <a:lumOff val="80000"/>
            </a:schemeClr>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extLst>
                  <p:ext uri="{D42A27DB-BD31-4B8C-83A1-F6EECF244321}">
                    <p14:modId xmlns:p14="http://schemas.microsoft.com/office/powerpoint/2010/main" val="769342881"/>
                  </p:ext>
                </p:extLst>
              </p:nvPr>
            </p:nvGraphicFramePr>
            <p:xfrm>
              <a:off x="925967" y="2488942"/>
              <a:ext cx="1681413" cy="3911858"/>
            </p:xfrm>
            <a:graphic>
              <a:graphicData uri="http://schemas.microsoft.com/office/drawing/2017/model3d">
                <am3d:model3d r:embed="rId2">
                  <am3d:spPr>
                    <a:xfrm>
                      <a:off x="0" y="0"/>
                      <a:ext cx="1681413" cy="3911858"/>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y="5400000"/>
                    <am3d:postTrans dx="0" dy="0" dz="0"/>
                  </am3d:trans>
                  <am3d:raster rName="Office3DRenderer" rVer="16.0.8326">
                    <am3d:blip r:embed="rId3"/>
                  </am3d:raster>
                  <am3d:objViewport viewportSz="47868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a:off x="925967" y="2488942"/>
                <a:ext cx="1681413" cy="3911858"/>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4124632" y="1598981"/>
            <a:ext cx="5034116" cy="3028335"/>
          </a:xfrm>
          <a:prstGeom prst="roundRect">
            <a:avLst/>
          </a:prstGeom>
          <a:effectLst>
            <a:innerShdw blurRad="63500" dist="50800" dir="10800000">
              <a:prstClr val="black">
                <a:alpha val="50000"/>
              </a:prstClr>
            </a:innerShdw>
            <a:reflection blurRad="6350" stA="52000" endA="300" endPos="35000" dir="5400000" sy="-100000" algn="bl" rotWithShape="0"/>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12F9AB7-FDC3-456C-0003-2DA1A5BD9F52}"/>
              </a:ext>
            </a:extLst>
          </p:cNvPr>
          <p:cNvSpPr txBox="1"/>
          <p:nvPr/>
        </p:nvSpPr>
        <p:spPr>
          <a:xfrm>
            <a:off x="4406080" y="2703889"/>
            <a:ext cx="4594120" cy="707886"/>
          </a:xfrm>
          <a:prstGeom prst="rect">
            <a:avLst/>
          </a:prstGeom>
          <a:noFill/>
          <a:effectLst>
            <a:outerShdw blurRad="50800" dist="38100" algn="l" rotWithShape="0">
              <a:prstClr val="black">
                <a:alpha val="40000"/>
              </a:prstClr>
            </a:outerShdw>
          </a:effectLst>
        </p:spPr>
        <p:txBody>
          <a:bodyPr wrap="square" rtlCol="0">
            <a:spAutoFit/>
          </a:bodyPr>
          <a:lstStyle/>
          <a:p>
            <a:r>
              <a:rPr lang="en-IN" sz="4000" b="1" dirty="0">
                <a:solidFill>
                  <a:schemeClr val="bg2"/>
                </a:solidFill>
                <a:latin typeface="Century" panose="02040604050505020304" pitchFamily="18" charset="0"/>
              </a:rPr>
              <a:t>INTRODUCTION</a:t>
            </a:r>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5963" y="-2423300"/>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23832" y="-2013571"/>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Tree>
    <p:extLst>
      <p:ext uri="{BB962C8B-B14F-4D97-AF65-F5344CB8AC3E}">
        <p14:creationId xmlns:p14="http://schemas.microsoft.com/office/powerpoint/2010/main" val="2558664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6F12748-4B4D-1FC6-F625-C68345491B42}"/>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355385" y="1738567"/>
            <a:ext cx="5466234" cy="5466234"/>
          </a:xfrm>
          <a:prstGeom prst="rect">
            <a:avLst/>
          </a:prstGeom>
          <a:effectLst/>
        </p:spPr>
      </p:pic>
      <p:sp>
        <p:nvSpPr>
          <p:cNvPr id="5" name="Rectangle: Rounded Corners 4">
            <a:extLst>
              <a:ext uri="{FF2B5EF4-FFF2-40B4-BE49-F238E27FC236}">
                <a16:creationId xmlns:a16="http://schemas.microsoft.com/office/drawing/2014/main" id="{BE135BBB-9ADC-C97D-5A1B-5FE01A1A087C}"/>
              </a:ext>
            </a:extLst>
          </p:cNvPr>
          <p:cNvSpPr/>
          <p:nvPr/>
        </p:nvSpPr>
        <p:spPr>
          <a:xfrm>
            <a:off x="-2118286" y="1535768"/>
            <a:ext cx="1123436" cy="123133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547447" y="1792817"/>
            <a:ext cx="59697" cy="927320"/>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extLst>
                  <p:ext uri="{D42A27DB-BD31-4B8C-83A1-F6EECF244321}">
                    <p14:modId xmlns:p14="http://schemas.microsoft.com/office/powerpoint/2010/main" val="1430138757"/>
                  </p:ext>
                </p:extLst>
              </p:nvPr>
            </p:nvGraphicFramePr>
            <p:xfrm>
              <a:off x="-1850605" y="1695707"/>
              <a:ext cx="362855" cy="844193"/>
            </p:xfrm>
            <a:graphic>
              <a:graphicData uri="http://schemas.microsoft.com/office/drawing/2017/model3d">
                <am3d:model3d r:embed="rId4">
                  <am3d:spPr>
                    <a:xfrm>
                      <a:off x="0" y="0"/>
                      <a:ext cx="362855" cy="844193"/>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y="5400000"/>
                    <am3d:postTrans dx="0" dy="0" dz="0"/>
                  </am3d:trans>
                  <am3d:raster rName="Office3DRenderer" rVer="16.0.8326">
                    <am3d:blip r:embed="rId5"/>
                  </am3d:raster>
                  <am3d:objViewport viewportSz="94012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5"/>
              <a:stretch>
                <a:fillRect/>
              </a:stretch>
            </p:blipFill>
            <p:spPr>
              <a:xfrm>
                <a:off x="-1850605" y="1695707"/>
                <a:ext cx="362855" cy="844193"/>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2175748" y="1792817"/>
            <a:ext cx="1180898" cy="581461"/>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75915" y="-2486513"/>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3832" y="-2308976"/>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44323" y="4597122"/>
            <a:ext cx="3911858" cy="3911858"/>
          </a:xfrm>
          <a:prstGeom prst="rect">
            <a:avLst/>
          </a:prstGeom>
        </p:spPr>
      </p:pic>
      <p:grpSp>
        <p:nvGrpSpPr>
          <p:cNvPr id="19" name="Group 18">
            <a:extLst>
              <a:ext uri="{FF2B5EF4-FFF2-40B4-BE49-F238E27FC236}">
                <a16:creationId xmlns:a16="http://schemas.microsoft.com/office/drawing/2014/main" id="{8CC7B7E4-277B-FF7F-8463-7875203CEF49}"/>
              </a:ext>
            </a:extLst>
          </p:cNvPr>
          <p:cNvGrpSpPr/>
          <p:nvPr/>
        </p:nvGrpSpPr>
        <p:grpSpPr>
          <a:xfrm>
            <a:off x="962142" y="1334128"/>
            <a:ext cx="9496167" cy="4063322"/>
            <a:chOff x="1054602" y="1341764"/>
            <a:chExt cx="9496167" cy="4063322"/>
          </a:xfrm>
        </p:grpSpPr>
        <p:sp>
          <p:nvSpPr>
            <p:cNvPr id="14" name="Rectangle: Rounded Corners 13">
              <a:extLst>
                <a:ext uri="{FF2B5EF4-FFF2-40B4-BE49-F238E27FC236}">
                  <a16:creationId xmlns:a16="http://schemas.microsoft.com/office/drawing/2014/main" id="{82DC24E6-EEBB-EB4C-E789-2A752D021CFC}"/>
                </a:ext>
              </a:extLst>
            </p:cNvPr>
            <p:cNvSpPr/>
            <p:nvPr/>
          </p:nvSpPr>
          <p:spPr>
            <a:xfrm>
              <a:off x="3753594" y="1341764"/>
              <a:ext cx="4199135" cy="778438"/>
            </a:xfrm>
            <a:prstGeom prst="roundRect">
              <a:avLst/>
            </a:prstGeom>
            <a:effectLst>
              <a:innerShdw blurRad="63500" dist="50800" dir="13500000">
                <a:prstClr val="black">
                  <a:alpha val="50000"/>
                </a:prstClr>
              </a:innerShdw>
              <a:reflection blurRad="6350" stA="52000" endA="300" endPos="35000" dir="5400000" sy="-100000" algn="bl" rotWithShape="0"/>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9DC46B7-FC40-335F-4196-77BA2FB50771}"/>
                </a:ext>
              </a:extLst>
            </p:cNvPr>
            <p:cNvSpPr txBox="1"/>
            <p:nvPr/>
          </p:nvSpPr>
          <p:spPr>
            <a:xfrm>
              <a:off x="3667185" y="1392260"/>
              <a:ext cx="5279225" cy="707886"/>
            </a:xfrm>
            <a:prstGeom prst="rect">
              <a:avLst/>
            </a:prstGeom>
            <a:noFill/>
            <a:effectLst>
              <a:outerShdw blurRad="50800" dist="38100" algn="l" rotWithShape="0">
                <a:prstClr val="black">
                  <a:alpha val="40000"/>
                </a:prstClr>
              </a:outerShdw>
            </a:effectLst>
          </p:spPr>
          <p:txBody>
            <a:bodyPr wrap="square" rtlCol="0">
              <a:spAutoFit/>
            </a:bodyPr>
            <a:lstStyle/>
            <a:p>
              <a:r>
                <a:rPr lang="en-IN" sz="4000" dirty="0">
                  <a:solidFill>
                    <a:schemeClr val="bg2"/>
                  </a:solidFill>
                  <a:latin typeface="Maiandra GD" panose="020E0502030308020204" pitchFamily="34" charset="0"/>
                </a:rPr>
                <a:t>General Overview</a:t>
              </a:r>
            </a:p>
          </p:txBody>
        </p:sp>
        <p:sp>
          <p:nvSpPr>
            <p:cNvPr id="15" name="TextBox 14">
              <a:extLst>
                <a:ext uri="{FF2B5EF4-FFF2-40B4-BE49-F238E27FC236}">
                  <a16:creationId xmlns:a16="http://schemas.microsoft.com/office/drawing/2014/main" id="{A1A8AED6-F462-8870-AB7A-7604134066FC}"/>
                </a:ext>
              </a:extLst>
            </p:cNvPr>
            <p:cNvSpPr txBox="1"/>
            <p:nvPr/>
          </p:nvSpPr>
          <p:spPr>
            <a:xfrm>
              <a:off x="1054602" y="2542764"/>
              <a:ext cx="9496167" cy="2862322"/>
            </a:xfrm>
            <a:prstGeom prst="rect">
              <a:avLst/>
            </a:prstGeom>
            <a:noFill/>
          </p:spPr>
          <p:txBody>
            <a:bodyPr wrap="square" rtlCol="0">
              <a:spAutoFit/>
            </a:bodyPr>
            <a:lstStyle/>
            <a:p>
              <a:r>
                <a:rPr lang="en-US" sz="2000" b="0" i="0" dirty="0">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The face detection system developed using </a:t>
              </a:r>
              <a:r>
                <a:rPr lang="en-US" sz="2000" dirty="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rPr>
                <a:t>VS code</a:t>
              </a:r>
              <a:r>
                <a:rPr lang="en-US" sz="2000" b="0" i="0" dirty="0">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 </a:t>
              </a:r>
              <a:r>
                <a:rPr lang="en-US" sz="2000" b="0" i="0" dirty="0" err="1">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tkinter</a:t>
              </a:r>
              <a:r>
                <a:rPr lang="en-US" sz="2000" b="0" i="0" dirty="0">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 GUI, and </a:t>
              </a:r>
              <a:r>
                <a:rPr lang="en-US" sz="2000" b="0" i="0" dirty="0" err="1">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openCV</a:t>
              </a:r>
              <a:r>
                <a:rPr lang="en-US" sz="2000" b="0" i="0" dirty="0">
                  <a:solidFill>
                    <a:schemeClr val="tx1">
                      <a:lumMod val="95000"/>
                      <a:lumOff val="5000"/>
                    </a:schemeClr>
                  </a:solidFill>
                  <a:effectLst/>
                  <a:latin typeface="Times New Roman" panose="02020603050405020304" pitchFamily="18" charset="0"/>
                  <a:ea typeface="Tahoma" panose="020B0604030504040204" pitchFamily="34" charset="0"/>
                  <a:cs typeface="Times New Roman" panose="02020603050405020304" pitchFamily="18" charset="0"/>
                </a:rPr>
                <a:t>. This system is designed to provide a user-friendly interface and offers multiple functionalities. It is capable of detecting faces, saving detected face samples into a database, adding new students, and adding teachers. The system can also detect faces and securely store them in the database</a:t>
              </a:r>
            </a:p>
            <a:p>
              <a:endParaRPr lang="en-US" sz="2000" dirty="0">
                <a:solidFill>
                  <a:schemeClr val="tx1">
                    <a:lumMod val="95000"/>
                    <a:lumOff val="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2000" b="0" i="0" dirty="0">
                  <a:effectLst/>
                  <a:latin typeface="Times New Roman" panose="02020603050405020304" pitchFamily="18" charset="0"/>
                  <a:ea typeface="Tahoma" panose="020B0604030504040204" pitchFamily="34" charset="0"/>
                  <a:cs typeface="Times New Roman" panose="02020603050405020304" pitchFamily="18" charset="0"/>
                </a:rPr>
                <a:t>the project incorporates various aspects such as database management, object-oriented programming, data structures, and </a:t>
              </a:r>
              <a:r>
                <a:rPr lang="en-US" sz="2000" b="0" i="0" dirty="0" err="1">
                  <a:effectLst/>
                  <a:latin typeface="Times New Roman" panose="02020603050405020304" pitchFamily="18" charset="0"/>
                  <a:ea typeface="Tahoma" panose="020B0604030504040204" pitchFamily="34" charset="0"/>
                  <a:cs typeface="Times New Roman" panose="02020603050405020304" pitchFamily="18" charset="0"/>
                </a:rPr>
                <a:t>openCV</a:t>
              </a:r>
              <a:r>
                <a:rPr lang="en-US" sz="2000" b="0" i="0" dirty="0">
                  <a:effectLst/>
                  <a:latin typeface="Times New Roman" panose="02020603050405020304" pitchFamily="18" charset="0"/>
                  <a:ea typeface="Tahoma" panose="020B0604030504040204" pitchFamily="34" charset="0"/>
                  <a:cs typeface="Times New Roman" panose="02020603050405020304" pitchFamily="18" charset="0"/>
                </a:rPr>
                <a:t> concepts. The use of user authentication ensures the security of the system</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p:txBody>
        </p:sp>
      </p:grpSp>
    </p:spTree>
    <p:extLst>
      <p:ext uri="{BB962C8B-B14F-4D97-AF65-F5344CB8AC3E}">
        <p14:creationId xmlns:p14="http://schemas.microsoft.com/office/powerpoint/2010/main" val="233318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7A08D552-5797-B9EF-80B6-44B3A8A725C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saturation sat="278000"/>
                    </a14:imgEffect>
                  </a14:imgLayer>
                </a14:imgProps>
              </a:ext>
              <a:ext uri="{28A0092B-C50C-407E-A947-70E740481C1C}">
                <a14:useLocalDpi xmlns:a14="http://schemas.microsoft.com/office/drawing/2010/main" val="0"/>
              </a:ext>
            </a:extLst>
          </a:blip>
          <a:stretch>
            <a:fillRect/>
          </a:stretch>
        </p:blipFill>
        <p:spPr>
          <a:xfrm>
            <a:off x="107165" y="3618720"/>
            <a:ext cx="5067718" cy="3138304"/>
          </a:xfrm>
          <a:prstGeom prst="rect">
            <a:avLst/>
          </a:prstGeom>
        </p:spPr>
      </p:pic>
      <p:pic>
        <p:nvPicPr>
          <p:cNvPr id="32" name="Graphic 31" descr="Graph and note paper pads with pencil">
            <a:extLst>
              <a:ext uri="{FF2B5EF4-FFF2-40B4-BE49-F238E27FC236}">
                <a16:creationId xmlns:a16="http://schemas.microsoft.com/office/drawing/2014/main" id="{C2C5BEBA-24E0-065E-9B6E-93411A9CAA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63773" y="2003083"/>
            <a:ext cx="1407397" cy="1407397"/>
          </a:xfrm>
          <a:prstGeom prst="rect">
            <a:avLst/>
          </a:prstGeom>
        </p:spPr>
      </p:pic>
      <p:sp>
        <p:nvSpPr>
          <p:cNvPr id="28" name="Flowchart: Terminator 27">
            <a:extLst>
              <a:ext uri="{FF2B5EF4-FFF2-40B4-BE49-F238E27FC236}">
                <a16:creationId xmlns:a16="http://schemas.microsoft.com/office/drawing/2014/main" id="{9801317B-A1CF-3C7B-15D3-430A51F74D20}"/>
              </a:ext>
            </a:extLst>
          </p:cNvPr>
          <p:cNvSpPr/>
          <p:nvPr/>
        </p:nvSpPr>
        <p:spPr>
          <a:xfrm>
            <a:off x="6792234" y="2362937"/>
            <a:ext cx="3004457" cy="647416"/>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7" name="Flowchart: Terminator 26">
            <a:extLst>
              <a:ext uri="{FF2B5EF4-FFF2-40B4-BE49-F238E27FC236}">
                <a16:creationId xmlns:a16="http://schemas.microsoft.com/office/drawing/2014/main" id="{1396E5B1-6A07-3FCB-02D5-8F5B557328D5}"/>
              </a:ext>
            </a:extLst>
          </p:cNvPr>
          <p:cNvSpPr/>
          <p:nvPr/>
        </p:nvSpPr>
        <p:spPr>
          <a:xfrm>
            <a:off x="3211805" y="2347223"/>
            <a:ext cx="1999622" cy="660589"/>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5F9E20DA-8C8B-DA67-56E9-7E35F96C9565}"/>
              </a:ext>
            </a:extLst>
          </p:cNvPr>
          <p:cNvSpPr/>
          <p:nvPr/>
        </p:nvSpPr>
        <p:spPr>
          <a:xfrm>
            <a:off x="2731046" y="1285745"/>
            <a:ext cx="5455929" cy="717338"/>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E135BBB-9ADC-C97D-5A1B-5FE01A1A087C}"/>
              </a:ext>
            </a:extLst>
          </p:cNvPr>
          <p:cNvSpPr/>
          <p:nvPr/>
        </p:nvSpPr>
        <p:spPr>
          <a:xfrm>
            <a:off x="-1418975" y="2151435"/>
            <a:ext cx="198476" cy="199892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433960" y="2453644"/>
            <a:ext cx="200374" cy="374866"/>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extLst>
                  <p:ext uri="{D42A27DB-BD31-4B8C-83A1-F6EECF244321}">
                    <p14:modId xmlns:p14="http://schemas.microsoft.com/office/powerpoint/2010/main" val="3760662752"/>
                  </p:ext>
                </p:extLst>
              </p:nvPr>
            </p:nvGraphicFramePr>
            <p:xfrm flipH="1">
              <a:off x="-1370017" y="2453644"/>
              <a:ext cx="151075" cy="1060241"/>
            </p:xfrm>
            <a:graphic>
              <a:graphicData uri="http://schemas.microsoft.com/office/drawing/2017/model3d">
                <am3d:model3d r:embed="rId6">
                  <am3d:spPr>
                    <a:xfrm flipH="1">
                      <a:off x="0" y="0"/>
                      <a:ext cx="151075" cy="1060241"/>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696204" ay="-2677418" az="-492448"/>
                    <am3d:postTrans dx="0" dy="0" dz="0"/>
                  </am3d:trans>
                  <am3d:raster rName="Office3DRenderer" rVer="16.0.8326">
                    <am3d:blip r:embed="rId7"/>
                  </am3d:raster>
                  <am3d:objViewport viewportSz="28056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7"/>
              <a:stretch>
                <a:fillRect/>
              </a:stretch>
            </p:blipFill>
            <p:spPr>
              <a:xfrm flipH="1">
                <a:off x="-1370017" y="2453644"/>
                <a:ext cx="151075" cy="1060241"/>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547287" y="2598198"/>
            <a:ext cx="326788" cy="24991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48762" y="-2670229"/>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33960" y="-2377133"/>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44323" y="4597122"/>
            <a:ext cx="3911858" cy="3911858"/>
          </a:xfrm>
          <a:prstGeom prst="rect">
            <a:avLst/>
          </a:prstGeom>
        </p:spPr>
      </p:pic>
      <p:sp>
        <p:nvSpPr>
          <p:cNvPr id="14" name="TextBox 13">
            <a:extLst>
              <a:ext uri="{FF2B5EF4-FFF2-40B4-BE49-F238E27FC236}">
                <a16:creationId xmlns:a16="http://schemas.microsoft.com/office/drawing/2014/main" id="{0E56D15C-C96B-0EEB-C967-D316ED2DE2AC}"/>
              </a:ext>
            </a:extLst>
          </p:cNvPr>
          <p:cNvSpPr txBox="1"/>
          <p:nvPr/>
        </p:nvSpPr>
        <p:spPr>
          <a:xfrm>
            <a:off x="2873832" y="1382804"/>
            <a:ext cx="5308775" cy="523220"/>
          </a:xfrm>
          <a:prstGeom prst="rect">
            <a:avLst/>
          </a:prstGeom>
          <a:noFill/>
          <a:effectLst>
            <a:outerShdw blurRad="50800" dist="38100" algn="l" rotWithShape="0">
              <a:prstClr val="black">
                <a:alpha val="40000"/>
              </a:prstClr>
            </a:outerShdw>
          </a:effectLst>
        </p:spPr>
        <p:txBody>
          <a:bodyPr wrap="square" rtlCol="0">
            <a:spAutoFit/>
          </a:bodyPr>
          <a:lstStyle/>
          <a:p>
            <a:r>
              <a:rPr lang="en-IN" sz="2800" b="1" dirty="0">
                <a:solidFill>
                  <a:schemeClr val="bg2"/>
                </a:solidFill>
              </a:rPr>
              <a:t>Problem Statement and Objective</a:t>
            </a:r>
          </a:p>
        </p:txBody>
      </p:sp>
      <p:sp>
        <p:nvSpPr>
          <p:cNvPr id="25" name="TextBox 24">
            <a:extLst>
              <a:ext uri="{FF2B5EF4-FFF2-40B4-BE49-F238E27FC236}">
                <a16:creationId xmlns:a16="http://schemas.microsoft.com/office/drawing/2014/main" id="{9F613B50-C694-E0C9-1929-1B4499954E38}"/>
              </a:ext>
            </a:extLst>
          </p:cNvPr>
          <p:cNvSpPr txBox="1"/>
          <p:nvPr/>
        </p:nvSpPr>
        <p:spPr>
          <a:xfrm>
            <a:off x="3504187" y="2418455"/>
            <a:ext cx="3211943" cy="461665"/>
          </a:xfrm>
          <a:prstGeom prst="rect">
            <a:avLst/>
          </a:prstGeom>
          <a:noFill/>
          <a:effectLst>
            <a:outerShdw blurRad="50800" dist="38100" algn="l" rotWithShape="0">
              <a:prstClr val="black">
                <a:alpha val="40000"/>
              </a:prstClr>
            </a:outerShdw>
          </a:effectLst>
        </p:spPr>
        <p:txBody>
          <a:bodyPr wrap="square" rtlCol="0">
            <a:spAutoFit/>
          </a:bodyPr>
          <a:lstStyle/>
          <a:p>
            <a:r>
              <a:rPr lang="en-IN" sz="2400" dirty="0"/>
              <a:t>Objective</a:t>
            </a:r>
          </a:p>
        </p:txBody>
      </p:sp>
      <p:sp>
        <p:nvSpPr>
          <p:cNvPr id="26" name="TextBox 25">
            <a:extLst>
              <a:ext uri="{FF2B5EF4-FFF2-40B4-BE49-F238E27FC236}">
                <a16:creationId xmlns:a16="http://schemas.microsoft.com/office/drawing/2014/main" id="{06F4C168-2992-0511-C0F5-B2657B9E9BD6}"/>
              </a:ext>
            </a:extLst>
          </p:cNvPr>
          <p:cNvSpPr txBox="1"/>
          <p:nvPr/>
        </p:nvSpPr>
        <p:spPr>
          <a:xfrm>
            <a:off x="6951307" y="2428937"/>
            <a:ext cx="3211943" cy="461665"/>
          </a:xfrm>
          <a:prstGeom prst="rect">
            <a:avLst/>
          </a:prstGeom>
          <a:noFill/>
          <a:effectLst>
            <a:outerShdw blurRad="50800" dist="38100" algn="l" rotWithShape="0">
              <a:prstClr val="black">
                <a:alpha val="40000"/>
              </a:prstClr>
            </a:outerShdw>
          </a:effectLst>
        </p:spPr>
        <p:txBody>
          <a:bodyPr wrap="square" rtlCol="0">
            <a:spAutoFit/>
          </a:bodyPr>
          <a:lstStyle/>
          <a:p>
            <a:r>
              <a:rPr lang="en-IN" sz="2400" dirty="0"/>
              <a:t>Problem statement</a:t>
            </a:r>
          </a:p>
        </p:txBody>
      </p:sp>
      <p:sp>
        <p:nvSpPr>
          <p:cNvPr id="29" name="TextBox 28">
            <a:extLst>
              <a:ext uri="{FF2B5EF4-FFF2-40B4-BE49-F238E27FC236}">
                <a16:creationId xmlns:a16="http://schemas.microsoft.com/office/drawing/2014/main" id="{E79FBAA0-8743-FCFA-3A4A-939F9E0A229F}"/>
              </a:ext>
            </a:extLst>
          </p:cNvPr>
          <p:cNvSpPr txBox="1"/>
          <p:nvPr/>
        </p:nvSpPr>
        <p:spPr>
          <a:xfrm>
            <a:off x="2619605" y="3286950"/>
            <a:ext cx="3911858" cy="1477328"/>
          </a:xfrm>
          <a:prstGeom prst="rect">
            <a:avLst/>
          </a:prstGeom>
          <a:noFill/>
        </p:spPr>
        <p:txBody>
          <a:bodyPr wrap="square" rtlCol="0">
            <a:spAutoFit/>
          </a:bodyPr>
          <a:lstStyle/>
          <a:p>
            <a:r>
              <a:rPr lang="en-US" b="0" i="0" dirty="0">
                <a:effectLst/>
                <a:latin typeface="Times New Roman" panose="02020603050405020304" pitchFamily="18" charset="0"/>
                <a:cs typeface="Times New Roman" panose="02020603050405020304" pitchFamily="18" charset="0"/>
              </a:rPr>
              <a:t>The face detection System, designed for student attendance, aims to provide an efficient, accurate, and user-friendly solution for managing and tracking attendance in educational institutions.</a:t>
            </a:r>
            <a:endParaRPr lang="en-IN"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32F8B1A8-90CE-0F0D-5A21-9723FC60B06F}"/>
              </a:ext>
            </a:extLst>
          </p:cNvPr>
          <p:cNvSpPr txBox="1"/>
          <p:nvPr/>
        </p:nvSpPr>
        <p:spPr>
          <a:xfrm>
            <a:off x="6588046" y="3300319"/>
            <a:ext cx="4531807" cy="2308324"/>
          </a:xfrm>
          <a:prstGeom prst="rect">
            <a:avLst/>
          </a:prstGeom>
          <a:noFill/>
        </p:spPr>
        <p:txBody>
          <a:bodyPr wrap="square" rtlCol="0">
            <a:spAutoFit/>
          </a:bodyPr>
          <a:lstStyle/>
          <a:p>
            <a:r>
              <a:rPr lang="en-US" b="0" i="0" dirty="0">
                <a:effectLst/>
                <a:latin typeface="Times New Roman" panose="02020603050405020304" pitchFamily="18" charset="0"/>
                <a:cs typeface="Times New Roman" panose="02020603050405020304" pitchFamily="18" charset="0"/>
              </a:rPr>
              <a:t>Develop an efficient, accurate, and user-friendly face detection System that automates student attendance tracking, ensures secure access control, and simplifies data management in educational institutions, utilizing advanced technologies such as OpenCV, database management, object-oriented programming, and data structures.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7487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E135BBB-9ADC-C97D-5A1B-5FE01A1A087C}"/>
              </a:ext>
            </a:extLst>
          </p:cNvPr>
          <p:cNvSpPr/>
          <p:nvPr/>
        </p:nvSpPr>
        <p:spPr>
          <a:xfrm>
            <a:off x="3488757" y="742514"/>
            <a:ext cx="6361472" cy="47981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3859160" y="1224115"/>
            <a:ext cx="5687961" cy="3687097"/>
          </a:xfrm>
          <a:prstGeom prst="roundRect">
            <a:avLst/>
          </a:prstGeom>
          <a:solidFill>
            <a:schemeClr val="accent4">
              <a:lumMod val="20000"/>
              <a:lumOff val="80000"/>
            </a:schemeClr>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nvGraphicFramePr>
            <p:xfrm>
              <a:off x="925967" y="2488942"/>
              <a:ext cx="1681413" cy="3911858"/>
            </p:xfrm>
            <a:graphic>
              <a:graphicData uri="http://schemas.microsoft.com/office/drawing/2017/model3d">
                <am3d:model3d r:embed="rId2">
                  <am3d:spPr>
                    <a:xfrm>
                      <a:off x="0" y="0"/>
                      <a:ext cx="1681413" cy="3911858"/>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y="5400000"/>
                    <am3d:postTrans dx="0" dy="0" dz="0"/>
                  </am3d:trans>
                  <am3d:raster rName="Office3DRenderer" rVer="16.0.8326">
                    <am3d:blip r:embed="rId3"/>
                  </am3d:raster>
                  <am3d:objViewport viewportSz="47868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a:off x="925967" y="2488942"/>
                <a:ext cx="1681413" cy="3911858"/>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4124632" y="1598981"/>
            <a:ext cx="5034116" cy="3028335"/>
          </a:xfrm>
          <a:prstGeom prst="roundRect">
            <a:avLst/>
          </a:prstGeom>
          <a:effectLst>
            <a:innerShdw blurRad="63500" dist="50800" dir="10800000">
              <a:prstClr val="black">
                <a:alpha val="50000"/>
              </a:prstClr>
            </a:innerShdw>
            <a:reflection blurRad="6350" stA="52000" endA="300" endPos="35000" dir="5400000" sy="-100000" algn="bl" rotWithShape="0"/>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12F9AB7-FDC3-456C-0003-2DA1A5BD9F52}"/>
              </a:ext>
            </a:extLst>
          </p:cNvPr>
          <p:cNvSpPr txBox="1"/>
          <p:nvPr/>
        </p:nvSpPr>
        <p:spPr>
          <a:xfrm>
            <a:off x="4406080" y="2636777"/>
            <a:ext cx="4594120" cy="769441"/>
          </a:xfrm>
          <a:prstGeom prst="rect">
            <a:avLst/>
          </a:prstGeom>
          <a:noFill/>
          <a:effectLst>
            <a:outerShdw blurRad="50800" dist="38100" algn="l" rotWithShape="0">
              <a:prstClr val="black">
                <a:alpha val="40000"/>
              </a:prstClr>
            </a:outerShdw>
          </a:effectLst>
        </p:spPr>
        <p:txBody>
          <a:bodyPr wrap="square" rtlCol="0">
            <a:spAutoFit/>
          </a:bodyPr>
          <a:lstStyle/>
          <a:p>
            <a:r>
              <a:rPr lang="en-IN" sz="4400" dirty="0">
                <a:solidFill>
                  <a:schemeClr val="bg2"/>
                </a:solidFill>
              </a:rPr>
              <a:t>METHODOLOGIES</a:t>
            </a:r>
            <a:endParaRPr lang="en-IN" sz="4400" b="1" dirty="0">
              <a:solidFill>
                <a:schemeClr val="bg2"/>
              </a:solidFill>
              <a:latin typeface="Century" panose="02040604050505020304" pitchFamily="18" charset="0"/>
            </a:endParaRPr>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5963" y="-2423300"/>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23832" y="-2013571"/>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Tree>
    <p:extLst>
      <p:ext uri="{BB962C8B-B14F-4D97-AF65-F5344CB8AC3E}">
        <p14:creationId xmlns:p14="http://schemas.microsoft.com/office/powerpoint/2010/main" val="390620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34E8E19C-FE72-7E30-A5BF-9B9D6C0770C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418982" y="1342547"/>
            <a:ext cx="7842430" cy="4964821"/>
          </a:xfrm>
          <a:prstGeom prst="rect">
            <a:avLst/>
          </a:prstGeom>
        </p:spPr>
      </p:pic>
      <p:sp>
        <p:nvSpPr>
          <p:cNvPr id="5" name="Rectangle: Rounded Corners 4">
            <a:extLst>
              <a:ext uri="{FF2B5EF4-FFF2-40B4-BE49-F238E27FC236}">
                <a16:creationId xmlns:a16="http://schemas.microsoft.com/office/drawing/2014/main" id="{BE135BBB-9ADC-C97D-5A1B-5FE01A1A087C}"/>
              </a:ext>
            </a:extLst>
          </p:cNvPr>
          <p:cNvSpPr/>
          <p:nvPr/>
        </p:nvSpPr>
        <p:spPr>
          <a:xfrm>
            <a:off x="-1193966" y="2638735"/>
            <a:ext cx="229133" cy="6944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816860" y="2542822"/>
            <a:ext cx="270713" cy="604685"/>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extLst>
                  <p:ext uri="{D42A27DB-BD31-4B8C-83A1-F6EECF244321}">
                    <p14:modId xmlns:p14="http://schemas.microsoft.com/office/powerpoint/2010/main" val="247319138"/>
                  </p:ext>
                </p:extLst>
              </p:nvPr>
            </p:nvGraphicFramePr>
            <p:xfrm>
              <a:off x="-1975443" y="2440471"/>
              <a:ext cx="1092836" cy="1535711"/>
            </p:xfrm>
            <a:graphic>
              <a:graphicData uri="http://schemas.microsoft.com/office/drawing/2017/model3d">
                <am3d:model3d r:embed="rId3">
                  <am3d:spPr>
                    <a:xfrm>
                      <a:off x="0" y="0"/>
                      <a:ext cx="1092836" cy="1535711"/>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46852" ay="-253814" az="3459"/>
                    <am3d:postTrans dx="0" dy="0" dz="0"/>
                  </am3d:trans>
                  <am3d:raster rName="Office3DRenderer" rVer="16.0.8326">
                    <am3d:blip r:embed="rId4"/>
                  </am3d:raster>
                  <am3d:objViewport viewportSz="18580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4"/>
              <a:stretch>
                <a:fillRect/>
              </a:stretch>
            </p:blipFill>
            <p:spPr>
              <a:xfrm>
                <a:off x="-1975443" y="2440471"/>
                <a:ext cx="1092836" cy="1535711"/>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302191" y="2576597"/>
            <a:ext cx="507658" cy="31020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23918" y="-2423300"/>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36076" y="-2244842"/>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12761" y="-2311030"/>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44323" y="4597122"/>
            <a:ext cx="3911858" cy="3911858"/>
          </a:xfrm>
          <a:prstGeom prst="rect">
            <a:avLst/>
          </a:prstGeom>
        </p:spPr>
      </p:pic>
      <p:grpSp>
        <p:nvGrpSpPr>
          <p:cNvPr id="6" name="Group 5">
            <a:extLst>
              <a:ext uri="{FF2B5EF4-FFF2-40B4-BE49-F238E27FC236}">
                <a16:creationId xmlns:a16="http://schemas.microsoft.com/office/drawing/2014/main" id="{F01557CB-1291-F8C4-4003-CAF254B9D775}"/>
              </a:ext>
            </a:extLst>
          </p:cNvPr>
          <p:cNvGrpSpPr/>
          <p:nvPr/>
        </p:nvGrpSpPr>
        <p:grpSpPr>
          <a:xfrm>
            <a:off x="271235" y="1664755"/>
            <a:ext cx="530050" cy="433867"/>
            <a:chOff x="183396" y="1636325"/>
            <a:chExt cx="530050" cy="433867"/>
          </a:xfrm>
        </p:grpSpPr>
        <p:sp>
          <p:nvSpPr>
            <p:cNvPr id="16" name="Oval 15">
              <a:extLst>
                <a:ext uri="{FF2B5EF4-FFF2-40B4-BE49-F238E27FC236}">
                  <a16:creationId xmlns:a16="http://schemas.microsoft.com/office/drawing/2014/main" id="{A68BE3AE-7CAD-EE4A-E15B-D18938A8CAC2}"/>
                </a:ext>
              </a:extLst>
            </p:cNvPr>
            <p:cNvSpPr/>
            <p:nvPr/>
          </p:nvSpPr>
          <p:spPr>
            <a:xfrm>
              <a:off x="183396" y="1636325"/>
              <a:ext cx="530050" cy="43386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5" name="Oval 14">
              <a:extLst>
                <a:ext uri="{FF2B5EF4-FFF2-40B4-BE49-F238E27FC236}">
                  <a16:creationId xmlns:a16="http://schemas.microsoft.com/office/drawing/2014/main" id="{27535E1C-23AC-115A-011F-04EE3D514577}"/>
                </a:ext>
              </a:extLst>
            </p:cNvPr>
            <p:cNvSpPr/>
            <p:nvPr/>
          </p:nvSpPr>
          <p:spPr>
            <a:xfrm>
              <a:off x="285302" y="1697241"/>
              <a:ext cx="335431" cy="312037"/>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grpSp>
      <p:sp>
        <p:nvSpPr>
          <p:cNvPr id="35" name="TextBox 34">
            <a:extLst>
              <a:ext uri="{FF2B5EF4-FFF2-40B4-BE49-F238E27FC236}">
                <a16:creationId xmlns:a16="http://schemas.microsoft.com/office/drawing/2014/main" id="{24325C63-064F-EC74-0B5E-4A44A896D23A}"/>
              </a:ext>
            </a:extLst>
          </p:cNvPr>
          <p:cNvSpPr txBox="1"/>
          <p:nvPr/>
        </p:nvSpPr>
        <p:spPr>
          <a:xfrm>
            <a:off x="1388196" y="4135427"/>
            <a:ext cx="3273427" cy="2369880"/>
          </a:xfrm>
          <a:prstGeom prst="rect">
            <a:avLst/>
          </a:prstGeom>
          <a:noFill/>
        </p:spPr>
        <p:txBody>
          <a:bodyPr wrap="square" rtlCol="0">
            <a:spAutoFit/>
          </a:bodyPr>
          <a:lstStyle/>
          <a:p>
            <a:r>
              <a:rPr lang="en-IN" sz="2000" b="1" i="0" dirty="0">
                <a:effectLst/>
                <a:latin typeface="Times New Roman" panose="02020603050405020304" pitchFamily="18" charset="0"/>
                <a:cs typeface="Times New Roman" panose="02020603050405020304" pitchFamily="18" charset="0"/>
              </a:rPr>
              <a:t>Testing and Validation:</a:t>
            </a:r>
            <a:r>
              <a:rPr lang="en-US" b="0" i="0" dirty="0">
                <a:effectLst/>
                <a:latin typeface="Times New Roman" panose="02020603050405020304" pitchFamily="18" charset="0"/>
                <a:cs typeface="Times New Roman" panose="02020603050405020304" pitchFamily="18" charset="0"/>
              </a:rPr>
              <a:t>Perform unit testing on individual components, such as login, registration, and face recognition modules. Validate the app's performance, accuracy, and efficiency in real-world scenarios.</a:t>
            </a:r>
          </a:p>
        </p:txBody>
      </p:sp>
      <p:sp>
        <p:nvSpPr>
          <p:cNvPr id="14" name="TextBox 13">
            <a:extLst>
              <a:ext uri="{FF2B5EF4-FFF2-40B4-BE49-F238E27FC236}">
                <a16:creationId xmlns:a16="http://schemas.microsoft.com/office/drawing/2014/main" id="{945F4A36-3A99-7847-7CBC-838E4A68A15F}"/>
              </a:ext>
            </a:extLst>
          </p:cNvPr>
          <p:cNvSpPr txBox="1"/>
          <p:nvPr/>
        </p:nvSpPr>
        <p:spPr>
          <a:xfrm>
            <a:off x="816678" y="1628993"/>
            <a:ext cx="4712041" cy="2339102"/>
          </a:xfrm>
          <a:prstGeom prst="rect">
            <a:avLst/>
          </a:prstGeom>
          <a:noFill/>
        </p:spPr>
        <p:txBody>
          <a:bodyPr wrap="square" rtlCol="0">
            <a:spAutoFit/>
          </a:bodyPr>
          <a:lstStyle/>
          <a:p>
            <a:pPr algn="l"/>
            <a:r>
              <a:rPr lang="en-US" sz="2000" b="1" i="0" dirty="0">
                <a:effectLst/>
                <a:latin typeface="Times New Roman" panose="02020603050405020304" pitchFamily="18" charset="0"/>
                <a:cs typeface="Times New Roman" panose="02020603050405020304" pitchFamily="18" charset="0"/>
              </a:rPr>
              <a:t>Requirements Gathering and Analysis:</a:t>
            </a:r>
          </a:p>
          <a:p>
            <a:pPr lvl="1" algn="l"/>
            <a:r>
              <a:rPr lang="en-US" b="0" i="0" dirty="0">
                <a:effectLst/>
                <a:latin typeface="Times New Roman" panose="02020603050405020304" pitchFamily="18" charset="0"/>
                <a:cs typeface="Times New Roman" panose="02020603050405020304" pitchFamily="18" charset="0"/>
              </a:rPr>
              <a:t> Identify the stakeholders (students, teachers, administrators) and gather their requirements for the app.</a:t>
            </a:r>
          </a:p>
          <a:p>
            <a:pPr lvl="1" algn="l"/>
            <a:r>
              <a:rPr lang="en-US" b="0" i="0" dirty="0">
                <a:effectLst/>
                <a:latin typeface="Times New Roman" panose="02020603050405020304" pitchFamily="18" charset="0"/>
                <a:cs typeface="Times New Roman" panose="02020603050405020304" pitchFamily="18" charset="0"/>
              </a:rPr>
              <a:t> Analyze the gathered requirements to understand the app's functional and non-functional aspects.</a:t>
            </a:r>
          </a:p>
          <a:p>
            <a:endParaRPr lang="en-IN" dirty="0"/>
          </a:p>
        </p:txBody>
      </p:sp>
      <p:grpSp>
        <p:nvGrpSpPr>
          <p:cNvPr id="25" name="Group 24">
            <a:extLst>
              <a:ext uri="{FF2B5EF4-FFF2-40B4-BE49-F238E27FC236}">
                <a16:creationId xmlns:a16="http://schemas.microsoft.com/office/drawing/2014/main" id="{1CF844BE-367C-B490-787D-06FB9866D373}"/>
              </a:ext>
            </a:extLst>
          </p:cNvPr>
          <p:cNvGrpSpPr/>
          <p:nvPr/>
        </p:nvGrpSpPr>
        <p:grpSpPr>
          <a:xfrm>
            <a:off x="5934627" y="1575411"/>
            <a:ext cx="530050" cy="433867"/>
            <a:chOff x="5830557" y="1827012"/>
            <a:chExt cx="670727" cy="613459"/>
          </a:xfrm>
        </p:grpSpPr>
        <p:sp>
          <p:nvSpPr>
            <p:cNvPr id="26" name="Oval 25">
              <a:extLst>
                <a:ext uri="{FF2B5EF4-FFF2-40B4-BE49-F238E27FC236}">
                  <a16:creationId xmlns:a16="http://schemas.microsoft.com/office/drawing/2014/main" id="{782B7FF3-6B2D-ED1D-2586-1D9BF9C418A8}"/>
                </a:ext>
              </a:extLst>
            </p:cNvPr>
            <p:cNvSpPr/>
            <p:nvPr/>
          </p:nvSpPr>
          <p:spPr>
            <a:xfrm>
              <a:off x="5830557" y="1827012"/>
              <a:ext cx="670727" cy="613459"/>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27" name="Oval 26">
              <a:extLst>
                <a:ext uri="{FF2B5EF4-FFF2-40B4-BE49-F238E27FC236}">
                  <a16:creationId xmlns:a16="http://schemas.microsoft.com/office/drawing/2014/main" id="{482DB4D3-386E-16E6-CB1B-C9ACDDF9D4F2}"/>
                </a:ext>
              </a:extLst>
            </p:cNvPr>
            <p:cNvSpPr/>
            <p:nvPr/>
          </p:nvSpPr>
          <p:spPr>
            <a:xfrm>
              <a:off x="5946199" y="1889497"/>
              <a:ext cx="424456" cy="441199"/>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grpSp>
      <p:grpSp>
        <p:nvGrpSpPr>
          <p:cNvPr id="28" name="Group 27">
            <a:extLst>
              <a:ext uri="{FF2B5EF4-FFF2-40B4-BE49-F238E27FC236}">
                <a16:creationId xmlns:a16="http://schemas.microsoft.com/office/drawing/2014/main" id="{F50D7DFD-E543-5773-753D-207B4044DCC4}"/>
              </a:ext>
            </a:extLst>
          </p:cNvPr>
          <p:cNvGrpSpPr/>
          <p:nvPr/>
        </p:nvGrpSpPr>
        <p:grpSpPr>
          <a:xfrm>
            <a:off x="642496" y="4198942"/>
            <a:ext cx="530050" cy="433867"/>
            <a:chOff x="5830557" y="1827012"/>
            <a:chExt cx="670727" cy="613459"/>
          </a:xfrm>
        </p:grpSpPr>
        <p:sp>
          <p:nvSpPr>
            <p:cNvPr id="29" name="Oval 28">
              <a:extLst>
                <a:ext uri="{FF2B5EF4-FFF2-40B4-BE49-F238E27FC236}">
                  <a16:creationId xmlns:a16="http://schemas.microsoft.com/office/drawing/2014/main" id="{E80BA6C0-E17D-C39A-7E5C-C2E752B5A1A7}"/>
                </a:ext>
              </a:extLst>
            </p:cNvPr>
            <p:cNvSpPr/>
            <p:nvPr/>
          </p:nvSpPr>
          <p:spPr>
            <a:xfrm>
              <a:off x="5830557" y="1827012"/>
              <a:ext cx="670727" cy="613459"/>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30" name="Oval 29">
              <a:extLst>
                <a:ext uri="{FF2B5EF4-FFF2-40B4-BE49-F238E27FC236}">
                  <a16:creationId xmlns:a16="http://schemas.microsoft.com/office/drawing/2014/main" id="{D3B07123-B19D-9B70-6300-BEB695B65BC0}"/>
                </a:ext>
              </a:extLst>
            </p:cNvPr>
            <p:cNvSpPr/>
            <p:nvPr/>
          </p:nvSpPr>
          <p:spPr>
            <a:xfrm>
              <a:off x="5946199" y="1889497"/>
              <a:ext cx="424456" cy="441199"/>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08CE0348-2E81-8FB0-FC4C-395A04E28158}"/>
              </a:ext>
            </a:extLst>
          </p:cNvPr>
          <p:cNvGrpSpPr/>
          <p:nvPr/>
        </p:nvGrpSpPr>
        <p:grpSpPr>
          <a:xfrm>
            <a:off x="5963741" y="4528484"/>
            <a:ext cx="530050" cy="433867"/>
            <a:chOff x="5830557" y="1827012"/>
            <a:chExt cx="670727" cy="613459"/>
          </a:xfrm>
        </p:grpSpPr>
        <p:sp>
          <p:nvSpPr>
            <p:cNvPr id="32" name="Oval 31">
              <a:extLst>
                <a:ext uri="{FF2B5EF4-FFF2-40B4-BE49-F238E27FC236}">
                  <a16:creationId xmlns:a16="http://schemas.microsoft.com/office/drawing/2014/main" id="{F73E865A-09D7-5FC4-652A-C847E2349C50}"/>
                </a:ext>
              </a:extLst>
            </p:cNvPr>
            <p:cNvSpPr/>
            <p:nvPr/>
          </p:nvSpPr>
          <p:spPr>
            <a:xfrm>
              <a:off x="5830557" y="1827012"/>
              <a:ext cx="670727" cy="613459"/>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33" name="Oval 32">
              <a:extLst>
                <a:ext uri="{FF2B5EF4-FFF2-40B4-BE49-F238E27FC236}">
                  <a16:creationId xmlns:a16="http://schemas.microsoft.com/office/drawing/2014/main" id="{7A7C8757-EC2F-B7C3-CC38-88DB9AE7978B}"/>
                </a:ext>
              </a:extLst>
            </p:cNvPr>
            <p:cNvSpPr/>
            <p:nvPr/>
          </p:nvSpPr>
          <p:spPr>
            <a:xfrm>
              <a:off x="5946199" y="1889497"/>
              <a:ext cx="424456" cy="441199"/>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grpSp>
      <p:sp>
        <p:nvSpPr>
          <p:cNvPr id="34" name="TextBox 33">
            <a:extLst>
              <a:ext uri="{FF2B5EF4-FFF2-40B4-BE49-F238E27FC236}">
                <a16:creationId xmlns:a16="http://schemas.microsoft.com/office/drawing/2014/main" id="{D8B728AA-EB7D-6719-75B3-E8D507002527}"/>
              </a:ext>
            </a:extLst>
          </p:cNvPr>
          <p:cNvSpPr txBox="1"/>
          <p:nvPr/>
        </p:nvSpPr>
        <p:spPr>
          <a:xfrm>
            <a:off x="6619003" y="1515982"/>
            <a:ext cx="3609157" cy="2923877"/>
          </a:xfrm>
          <a:prstGeom prst="rect">
            <a:avLst/>
          </a:prstGeom>
          <a:noFill/>
        </p:spPr>
        <p:txBody>
          <a:bodyPr wrap="square" rtlCol="0">
            <a:spAutoFit/>
          </a:bodyPr>
          <a:lstStyle/>
          <a:p>
            <a:r>
              <a:rPr lang="en-IN" sz="2000" b="1" i="0" dirty="0">
                <a:effectLst/>
                <a:latin typeface="Times New Roman" panose="02020603050405020304" pitchFamily="18" charset="0"/>
                <a:cs typeface="Times New Roman" panose="02020603050405020304" pitchFamily="18" charset="0"/>
              </a:rPr>
              <a:t>Design and Development :</a:t>
            </a:r>
          </a:p>
          <a:p>
            <a:r>
              <a:rPr lang="en-IN" sz="2000" i="0" dirty="0">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
            </a:r>
            <a:r>
              <a:rPr lang="en-IN" i="0" dirty="0">
                <a:effectLst/>
                <a:latin typeface="Times New Roman" panose="02020603050405020304" pitchFamily="18" charset="0"/>
                <a:cs typeface="Times New Roman" panose="02020603050405020304" pitchFamily="18" charset="0"/>
              </a:rPr>
              <a:t>esign the user interface and app </a:t>
            </a:r>
            <a:r>
              <a:rPr lang="en-IN" i="0" dirty="0" err="1">
                <a:effectLst/>
                <a:latin typeface="Times New Roman" panose="02020603050405020304" pitchFamily="18" charset="0"/>
                <a:cs typeface="Times New Roman" panose="02020603050405020304" pitchFamily="18" charset="0"/>
              </a:rPr>
              <a:t>architecture,including</a:t>
            </a:r>
            <a:r>
              <a:rPr lang="en-IN" i="0" dirty="0">
                <a:effectLst/>
                <a:latin typeface="Times New Roman" panose="02020603050405020304" pitchFamily="18" charset="0"/>
                <a:cs typeface="Times New Roman" panose="02020603050405020304" pitchFamily="18" charset="0"/>
              </a:rPr>
              <a:t> hardware and software </a:t>
            </a:r>
            <a:r>
              <a:rPr lang="en-IN" i="0" dirty="0" err="1">
                <a:effectLst/>
                <a:latin typeface="Times New Roman" panose="02020603050405020304" pitchFamily="18" charset="0"/>
                <a:cs typeface="Times New Roman" panose="02020603050405020304" pitchFamily="18" charset="0"/>
              </a:rPr>
              <a:t>components.Intigrate</a:t>
            </a:r>
            <a:r>
              <a:rPr lang="en-IN" i="0" dirty="0">
                <a:effectLst/>
                <a:latin typeface="Times New Roman" panose="02020603050405020304" pitchFamily="18" charset="0"/>
                <a:cs typeface="Times New Roman" panose="02020603050405020304" pitchFamily="18" charset="0"/>
              </a:rPr>
              <a:t> a face detection and </a:t>
            </a:r>
            <a:r>
              <a:rPr lang="en-IN" i="0" dirty="0" err="1">
                <a:effectLst/>
                <a:latin typeface="Times New Roman" panose="02020603050405020304" pitchFamily="18" charset="0"/>
                <a:cs typeface="Times New Roman" panose="02020603050405020304" pitchFamily="18" charset="0"/>
              </a:rPr>
              <a:t>recogonition</a:t>
            </a:r>
            <a:r>
              <a:rPr lang="en-IN" i="0" dirty="0">
                <a:effectLst/>
                <a:latin typeface="Times New Roman" panose="02020603050405020304" pitchFamily="18" charset="0"/>
                <a:cs typeface="Times New Roman" panose="02020603050405020304" pitchFamily="18" charset="0"/>
              </a:rPr>
              <a:t> algorithm using OpenCV and python with </a:t>
            </a:r>
            <a:r>
              <a:rPr lang="en-IN" i="0" dirty="0" err="1">
                <a:effectLst/>
                <a:latin typeface="Times New Roman" panose="02020603050405020304" pitchFamily="18" charset="0"/>
                <a:cs typeface="Times New Roman" panose="02020603050405020304" pitchFamily="18" charset="0"/>
              </a:rPr>
              <a:t>tkinter</a:t>
            </a:r>
            <a:r>
              <a:rPr lang="en-IN" i="0" dirty="0">
                <a:effectLst/>
                <a:latin typeface="Times New Roman" panose="02020603050405020304" pitchFamily="18" charset="0"/>
                <a:cs typeface="Times New Roman" panose="02020603050405020304" pitchFamily="18" charset="0"/>
              </a:rPr>
              <a:t> for the GUI this involve pre trained models such as </a:t>
            </a:r>
            <a:r>
              <a:rPr lang="en-IN" i="0" dirty="0" err="1">
                <a:effectLst/>
                <a:latin typeface="Times New Roman" panose="02020603050405020304" pitchFamily="18" charset="0"/>
                <a:cs typeface="Times New Roman" panose="02020603050405020304" pitchFamily="18" charset="0"/>
              </a:rPr>
              <a:t>haar</a:t>
            </a:r>
            <a:r>
              <a:rPr lang="en-IN" i="0" dirty="0">
                <a:effectLst/>
                <a:latin typeface="Times New Roman" panose="02020603050405020304" pitchFamily="18" charset="0"/>
                <a:cs typeface="Times New Roman" panose="02020603050405020304" pitchFamily="18" charset="0"/>
              </a:rPr>
              <a:t> </a:t>
            </a:r>
            <a:r>
              <a:rPr lang="en-IN" i="0" dirty="0" err="1">
                <a:effectLst/>
                <a:latin typeface="Times New Roman" panose="02020603050405020304" pitchFamily="18" charset="0"/>
                <a:cs typeface="Times New Roman" panose="02020603050405020304" pitchFamily="18" charset="0"/>
              </a:rPr>
              <a:t>cascade,LBHP</a:t>
            </a:r>
            <a:r>
              <a:rPr lang="en-IN" i="0" dirty="0">
                <a:effectLst/>
                <a:latin typeface="Times New Roman" panose="02020603050405020304" pitchFamily="18" charset="0"/>
                <a:cs typeface="Times New Roman" panose="02020603050405020304" pitchFamily="18" charset="0"/>
              </a:rPr>
              <a:t> or </a:t>
            </a:r>
            <a:r>
              <a:rPr lang="en-IN" i="0" dirty="0" err="1">
                <a:effectLst/>
                <a:latin typeface="Times New Roman" panose="02020603050405020304" pitchFamily="18" charset="0"/>
                <a:cs typeface="Times New Roman" panose="02020603050405020304" pitchFamily="18" charset="0"/>
              </a:rPr>
              <a:t>CNNs</a:t>
            </a:r>
            <a:r>
              <a:rPr lang="en-IN" i="0" dirty="0">
                <a:effectLst/>
                <a:latin typeface="Times New Roman" panose="02020603050405020304" pitchFamily="18" charset="0"/>
                <a:cs typeface="Times New Roman" panose="02020603050405020304" pitchFamily="18" charset="0"/>
              </a:rPr>
              <a:t> for the face detection</a:t>
            </a:r>
            <a:endParaRPr lang="en-US" i="0" dirty="0">
              <a:effectLst/>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2E0789BF-D0A1-6DED-66EB-6D31943B49F2}"/>
              </a:ext>
            </a:extLst>
          </p:cNvPr>
          <p:cNvSpPr txBox="1"/>
          <p:nvPr/>
        </p:nvSpPr>
        <p:spPr>
          <a:xfrm>
            <a:off x="6597821" y="4525954"/>
            <a:ext cx="3862307" cy="2123658"/>
          </a:xfrm>
          <a:prstGeom prst="rect">
            <a:avLst/>
          </a:prstGeom>
          <a:noFill/>
        </p:spPr>
        <p:txBody>
          <a:bodyPr wrap="square" rtlCol="0">
            <a:spAutoFit/>
          </a:bodyPr>
          <a:lstStyle/>
          <a:p>
            <a:r>
              <a:rPr lang="en-IN" sz="2000" b="1" i="0" dirty="0">
                <a:effectLst/>
                <a:latin typeface="Times New Roman" panose="02020603050405020304" pitchFamily="18" charset="0"/>
                <a:cs typeface="Times New Roman" panose="02020603050405020304" pitchFamily="18" charset="0"/>
              </a:rPr>
              <a:t>Deployment, Training, and Maintenance :</a:t>
            </a:r>
            <a:r>
              <a:rPr lang="en-US" b="0" i="0" dirty="0">
                <a:effectLst/>
                <a:latin typeface="Times New Roman" panose="02020603050405020304" pitchFamily="18" charset="0"/>
                <a:cs typeface="Times New Roman" panose="02020603050405020304" pitchFamily="18" charset="0"/>
              </a:rPr>
              <a:t>Monitor the app's performance, address issues, and continuously update and improve it based on user feedback and technological advancements</a:t>
            </a:r>
            <a:r>
              <a:rPr lang="en-US" b="0" i="0" dirty="0">
                <a:effectLst/>
                <a:latin typeface="Candara" panose="020E0502030303020204" pitchFamily="34" charset="0"/>
              </a:rPr>
              <a:t>.</a:t>
            </a:r>
          </a:p>
          <a:p>
            <a:endParaRPr lang="en-IN" sz="2000" b="1" dirty="0"/>
          </a:p>
        </p:txBody>
      </p:sp>
    </p:spTree>
    <p:extLst>
      <p:ext uri="{BB962C8B-B14F-4D97-AF65-F5344CB8AC3E}">
        <p14:creationId xmlns:p14="http://schemas.microsoft.com/office/powerpoint/2010/main" val="330342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E135BBB-9ADC-C97D-5A1B-5FE01A1A087C}"/>
              </a:ext>
            </a:extLst>
          </p:cNvPr>
          <p:cNvSpPr/>
          <p:nvPr/>
        </p:nvSpPr>
        <p:spPr>
          <a:xfrm>
            <a:off x="3488757" y="742514"/>
            <a:ext cx="6361472" cy="47981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3859160" y="1224115"/>
            <a:ext cx="5687961" cy="3687097"/>
          </a:xfrm>
          <a:prstGeom prst="roundRect">
            <a:avLst/>
          </a:prstGeom>
          <a:solidFill>
            <a:schemeClr val="accent4">
              <a:lumMod val="20000"/>
              <a:lumOff val="80000"/>
            </a:schemeClr>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nvGraphicFramePr>
            <p:xfrm>
              <a:off x="925967" y="2488942"/>
              <a:ext cx="1681413" cy="3911858"/>
            </p:xfrm>
            <a:graphic>
              <a:graphicData uri="http://schemas.microsoft.com/office/drawing/2017/model3d">
                <am3d:model3d r:embed="rId2">
                  <am3d:spPr>
                    <a:xfrm>
                      <a:off x="0" y="0"/>
                      <a:ext cx="1681413" cy="3911858"/>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y="5400000"/>
                    <am3d:postTrans dx="0" dy="0" dz="0"/>
                  </am3d:trans>
                  <am3d:raster rName="Office3DRenderer" rVer="16.0.8326">
                    <am3d:blip r:embed="rId3"/>
                  </am3d:raster>
                  <am3d:objViewport viewportSz="47868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a:off x="925967" y="2488942"/>
                <a:ext cx="1681413" cy="3911858"/>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4124632" y="1598981"/>
            <a:ext cx="5034116" cy="3028335"/>
          </a:xfrm>
          <a:prstGeom prst="roundRect">
            <a:avLst/>
          </a:prstGeom>
          <a:effectLst>
            <a:innerShdw blurRad="63500" dist="50800" dir="10800000">
              <a:prstClr val="black">
                <a:alpha val="50000"/>
              </a:prstClr>
            </a:innerShdw>
            <a:reflection blurRad="6350" stA="52000" endA="300" endPos="35000" dir="5400000" sy="-100000" algn="bl" rotWithShape="0"/>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F12F9AB7-FDC3-456C-0003-2DA1A5BD9F52}"/>
              </a:ext>
            </a:extLst>
          </p:cNvPr>
          <p:cNvSpPr txBox="1"/>
          <p:nvPr/>
        </p:nvSpPr>
        <p:spPr>
          <a:xfrm>
            <a:off x="4503178" y="1890326"/>
            <a:ext cx="4594120" cy="2554545"/>
          </a:xfrm>
          <a:prstGeom prst="rect">
            <a:avLst/>
          </a:prstGeom>
          <a:noFill/>
          <a:effectLst>
            <a:outerShdw blurRad="50800" dist="38100" algn="l" rotWithShape="0">
              <a:prstClr val="black">
                <a:alpha val="40000"/>
              </a:prstClr>
            </a:outerShdw>
          </a:effectLst>
        </p:spPr>
        <p:txBody>
          <a:bodyPr wrap="square" rtlCol="0">
            <a:spAutoFit/>
          </a:bodyPr>
          <a:lstStyle/>
          <a:p>
            <a:r>
              <a:rPr lang="en-IN" sz="4000" b="1" dirty="0">
                <a:solidFill>
                  <a:schemeClr val="bg2"/>
                </a:solidFill>
                <a:latin typeface="Century" panose="02040604050505020304" pitchFamily="18" charset="0"/>
              </a:rPr>
              <a:t>SYSTEM FLOW DIAGRAM AND DESIGN DETAILS</a:t>
            </a:r>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5963" y="-2423300"/>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23832" y="-2013571"/>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Tree>
    <p:extLst>
      <p:ext uri="{BB962C8B-B14F-4D97-AF65-F5344CB8AC3E}">
        <p14:creationId xmlns:p14="http://schemas.microsoft.com/office/powerpoint/2010/main" val="1248411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cxnSp>
        <p:nvCxnSpPr>
          <p:cNvPr id="121" name="Connector: Curved 120">
            <a:extLst>
              <a:ext uri="{FF2B5EF4-FFF2-40B4-BE49-F238E27FC236}">
                <a16:creationId xmlns:a16="http://schemas.microsoft.com/office/drawing/2014/main" id="{FFB79D9D-3099-62CA-FF3E-9D8F90C88782}"/>
              </a:ext>
            </a:extLst>
          </p:cNvPr>
          <p:cNvCxnSpPr>
            <a:cxnSpLocks/>
            <a:endCxn id="91" idx="0"/>
          </p:cNvCxnSpPr>
          <p:nvPr/>
        </p:nvCxnSpPr>
        <p:spPr>
          <a:xfrm flipV="1">
            <a:off x="6309098" y="3488752"/>
            <a:ext cx="1577774" cy="383912"/>
          </a:xfrm>
          <a:prstGeom prst="curvedConnector4">
            <a:avLst>
              <a:gd name="adj1" fmla="val 29418"/>
              <a:gd name="adj2" fmla="val 159545"/>
            </a:avLst>
          </a:prstGeom>
          <a:ln>
            <a:tailEnd type="triangle"/>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cxnSp>
        <p:nvCxnSpPr>
          <p:cNvPr id="71" name="Connector: Curved 70">
            <a:extLst>
              <a:ext uri="{FF2B5EF4-FFF2-40B4-BE49-F238E27FC236}">
                <a16:creationId xmlns:a16="http://schemas.microsoft.com/office/drawing/2014/main" id="{47CC7F5C-6C99-9529-D321-B6D24332044D}"/>
              </a:ext>
            </a:extLst>
          </p:cNvPr>
          <p:cNvCxnSpPr>
            <a:cxnSpLocks/>
            <a:endCxn id="50" idx="0"/>
          </p:cNvCxnSpPr>
          <p:nvPr/>
        </p:nvCxnSpPr>
        <p:spPr>
          <a:xfrm rot="16200000" flipH="1">
            <a:off x="3298639" y="3893178"/>
            <a:ext cx="2588762" cy="1110184"/>
          </a:xfrm>
          <a:prstGeom prst="curvedConnector3">
            <a:avLst>
              <a:gd name="adj1" fmla="val 50000"/>
            </a:avLst>
          </a:prstGeom>
          <a:ln>
            <a:tailEnd type="triangle"/>
          </a:ln>
          <a:effectLst>
            <a:outerShdw blurRad="50800" dist="38100" dir="2700000" algn="t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sp>
        <p:nvSpPr>
          <p:cNvPr id="99" name="Arrow: Right 98">
            <a:extLst>
              <a:ext uri="{FF2B5EF4-FFF2-40B4-BE49-F238E27FC236}">
                <a16:creationId xmlns:a16="http://schemas.microsoft.com/office/drawing/2014/main" id="{916D21D4-FD72-A91E-3A55-4FA9DC8EA98A}"/>
              </a:ext>
            </a:extLst>
          </p:cNvPr>
          <p:cNvSpPr/>
          <p:nvPr/>
        </p:nvSpPr>
        <p:spPr>
          <a:xfrm>
            <a:off x="-1857916" y="4195586"/>
            <a:ext cx="1141836" cy="108440"/>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98" name="Arrow: Right 97">
            <a:extLst>
              <a:ext uri="{FF2B5EF4-FFF2-40B4-BE49-F238E27FC236}">
                <a16:creationId xmlns:a16="http://schemas.microsoft.com/office/drawing/2014/main" id="{FAB72C02-6164-BCA2-AA85-593DB1BF7EFC}"/>
              </a:ext>
            </a:extLst>
          </p:cNvPr>
          <p:cNvSpPr/>
          <p:nvPr/>
        </p:nvSpPr>
        <p:spPr>
          <a:xfrm>
            <a:off x="-2400598" y="4101374"/>
            <a:ext cx="1141836" cy="108440"/>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89" name="Arrow: Right 88">
            <a:extLst>
              <a:ext uri="{FF2B5EF4-FFF2-40B4-BE49-F238E27FC236}">
                <a16:creationId xmlns:a16="http://schemas.microsoft.com/office/drawing/2014/main" id="{C04D3E78-CE0E-B139-A2B6-111C93424AA2}"/>
              </a:ext>
            </a:extLst>
          </p:cNvPr>
          <p:cNvSpPr/>
          <p:nvPr/>
        </p:nvSpPr>
        <p:spPr>
          <a:xfrm>
            <a:off x="-1761583" y="4020386"/>
            <a:ext cx="1141836" cy="108440"/>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88" name="Arrow: Right 87">
            <a:extLst>
              <a:ext uri="{FF2B5EF4-FFF2-40B4-BE49-F238E27FC236}">
                <a16:creationId xmlns:a16="http://schemas.microsoft.com/office/drawing/2014/main" id="{9A3AFDAA-09C2-69EB-4661-20C3C59C8673}"/>
              </a:ext>
            </a:extLst>
          </p:cNvPr>
          <p:cNvSpPr/>
          <p:nvPr/>
        </p:nvSpPr>
        <p:spPr>
          <a:xfrm>
            <a:off x="-2013571" y="4202761"/>
            <a:ext cx="1141836" cy="108440"/>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73" name="Arrow: Right 72">
            <a:extLst>
              <a:ext uri="{FF2B5EF4-FFF2-40B4-BE49-F238E27FC236}">
                <a16:creationId xmlns:a16="http://schemas.microsoft.com/office/drawing/2014/main" id="{D653E5CB-1699-B488-9218-698AF3F14940}"/>
              </a:ext>
            </a:extLst>
          </p:cNvPr>
          <p:cNvSpPr/>
          <p:nvPr/>
        </p:nvSpPr>
        <p:spPr>
          <a:xfrm>
            <a:off x="-1862568" y="4101374"/>
            <a:ext cx="526755" cy="10054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D5B82BDA-418A-5EDE-A520-C18F8D0984AC}"/>
              </a:ext>
            </a:extLst>
          </p:cNvPr>
          <p:cNvSpPr/>
          <p:nvPr/>
        </p:nvSpPr>
        <p:spPr>
          <a:xfrm>
            <a:off x="3319028" y="1219248"/>
            <a:ext cx="4290646" cy="655818"/>
          </a:xfrm>
          <a:prstGeom prst="roundRect">
            <a:avLst/>
          </a:prstGeom>
          <a:effectLst>
            <a:innerShdw blurRad="63500" dist="50800" dir="10800000">
              <a:prstClr val="black">
                <a:alpha val="50000"/>
              </a:prstClr>
            </a:innerShdw>
            <a:reflection blurRad="6350" stA="52000" endA="300" endPos="35000" dir="5400000" sy="-100000" algn="bl" rotWithShape="0"/>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BE135BBB-9ADC-C97D-5A1B-5FE01A1A087C}"/>
              </a:ext>
            </a:extLst>
          </p:cNvPr>
          <p:cNvSpPr/>
          <p:nvPr/>
        </p:nvSpPr>
        <p:spPr>
          <a:xfrm>
            <a:off x="-1632725" y="2012345"/>
            <a:ext cx="992808" cy="95319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742766" y="2088865"/>
            <a:ext cx="933904" cy="574540"/>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extLst>
                  <p:ext uri="{D42A27DB-BD31-4B8C-83A1-F6EECF244321}">
                    <p14:modId xmlns:p14="http://schemas.microsoft.com/office/powerpoint/2010/main" val="3776946869"/>
                  </p:ext>
                </p:extLst>
              </p:nvPr>
            </p:nvGraphicFramePr>
            <p:xfrm flipH="1">
              <a:off x="-1623746" y="1686238"/>
              <a:ext cx="767760" cy="1273976"/>
            </p:xfrm>
            <a:graphic>
              <a:graphicData uri="http://schemas.microsoft.com/office/drawing/2017/model3d">
                <am3d:model3d r:embed="rId2">
                  <am3d:spPr>
                    <a:xfrm flipH="1">
                      <a:off x="0" y="0"/>
                      <a:ext cx="767760" cy="1273976"/>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3881711" ay="-2129747" az="-3050707"/>
                    <am3d:postTrans dx="0" dy="0" dz="0"/>
                  </am3d:trans>
                  <am3d:raster rName="Office3DRenderer" rVer="16.0.8326">
                    <am3d:blip r:embed="rId3"/>
                  </am3d:raster>
                  <am3d:objViewport viewportSz="16789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flipH="1">
                <a:off x="-1623746" y="1686238"/>
                <a:ext cx="767760" cy="1273976"/>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572783" y="2279409"/>
            <a:ext cx="809109" cy="9672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5563" y="-2609425"/>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72783" y="-2540800"/>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
        <p:nvSpPr>
          <p:cNvPr id="14" name="TextBox 13">
            <a:extLst>
              <a:ext uri="{FF2B5EF4-FFF2-40B4-BE49-F238E27FC236}">
                <a16:creationId xmlns:a16="http://schemas.microsoft.com/office/drawing/2014/main" id="{81C873F7-60F1-9B9A-E34E-69FE2E24BEAD}"/>
              </a:ext>
            </a:extLst>
          </p:cNvPr>
          <p:cNvSpPr txBox="1"/>
          <p:nvPr/>
        </p:nvSpPr>
        <p:spPr>
          <a:xfrm>
            <a:off x="3970570" y="1219248"/>
            <a:ext cx="4036365" cy="584775"/>
          </a:xfrm>
          <a:prstGeom prst="rect">
            <a:avLst/>
          </a:prstGeom>
          <a:noFill/>
          <a:effectLst>
            <a:outerShdw blurRad="50800" dist="38100" algn="l" rotWithShape="0">
              <a:prstClr val="black">
                <a:alpha val="40000"/>
              </a:prstClr>
            </a:outerShdw>
          </a:effectLst>
        </p:spPr>
        <p:txBody>
          <a:bodyPr wrap="square" rtlCol="0">
            <a:spAutoFit/>
          </a:bodyPr>
          <a:lstStyle/>
          <a:p>
            <a:r>
              <a:rPr lang="en-IN" sz="3200" b="1" dirty="0">
                <a:solidFill>
                  <a:schemeClr val="bg2"/>
                </a:solidFill>
              </a:rPr>
              <a:t>System Diagram  </a:t>
            </a:r>
          </a:p>
        </p:txBody>
      </p:sp>
      <p:grpSp>
        <p:nvGrpSpPr>
          <p:cNvPr id="6" name="Group 5">
            <a:extLst>
              <a:ext uri="{FF2B5EF4-FFF2-40B4-BE49-F238E27FC236}">
                <a16:creationId xmlns:a16="http://schemas.microsoft.com/office/drawing/2014/main" id="{7E97FDA8-26C7-192E-E179-4DE785EFF129}"/>
              </a:ext>
            </a:extLst>
          </p:cNvPr>
          <p:cNvGrpSpPr/>
          <p:nvPr/>
        </p:nvGrpSpPr>
        <p:grpSpPr>
          <a:xfrm>
            <a:off x="1293427" y="1905737"/>
            <a:ext cx="1057186" cy="1324469"/>
            <a:chOff x="1293427" y="1905737"/>
            <a:chExt cx="1057186" cy="1324469"/>
          </a:xfrm>
        </p:grpSpPr>
        <p:pic>
          <p:nvPicPr>
            <p:cNvPr id="33" name="Graphic 32" descr="Male profile with solid fill">
              <a:extLst>
                <a:ext uri="{FF2B5EF4-FFF2-40B4-BE49-F238E27FC236}">
                  <a16:creationId xmlns:a16="http://schemas.microsoft.com/office/drawing/2014/main" id="{89D694F8-061A-8BC9-09BD-07CF9C7C299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93427" y="1905737"/>
              <a:ext cx="914400" cy="914400"/>
            </a:xfrm>
            <a:prstGeom prst="rect">
              <a:avLst/>
            </a:prstGeom>
          </p:spPr>
        </p:pic>
        <p:sp>
          <p:nvSpPr>
            <p:cNvPr id="35" name="Rectangle: Rounded Corners 34">
              <a:extLst>
                <a:ext uri="{FF2B5EF4-FFF2-40B4-BE49-F238E27FC236}">
                  <a16:creationId xmlns:a16="http://schemas.microsoft.com/office/drawing/2014/main" id="{7AF97652-3811-A978-8577-3A86B3C5577C}"/>
                </a:ext>
              </a:extLst>
            </p:cNvPr>
            <p:cNvSpPr/>
            <p:nvPr/>
          </p:nvSpPr>
          <p:spPr>
            <a:xfrm>
              <a:off x="1293427" y="2820137"/>
              <a:ext cx="914400" cy="410069"/>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5F5CD48F-0D5A-D644-02E6-9A63FB99D614}"/>
                </a:ext>
              </a:extLst>
            </p:cNvPr>
            <p:cNvSpPr txBox="1"/>
            <p:nvPr/>
          </p:nvSpPr>
          <p:spPr>
            <a:xfrm>
              <a:off x="1436213" y="2820137"/>
              <a:ext cx="914400"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User</a:t>
              </a:r>
            </a:p>
          </p:txBody>
        </p:sp>
      </p:grpSp>
      <p:sp>
        <p:nvSpPr>
          <p:cNvPr id="37" name="Arrow: Right 36">
            <a:extLst>
              <a:ext uri="{FF2B5EF4-FFF2-40B4-BE49-F238E27FC236}">
                <a16:creationId xmlns:a16="http://schemas.microsoft.com/office/drawing/2014/main" id="{79D70532-A52A-DE49-624D-7C233BDACD1C}"/>
              </a:ext>
            </a:extLst>
          </p:cNvPr>
          <p:cNvSpPr/>
          <p:nvPr/>
        </p:nvSpPr>
        <p:spPr>
          <a:xfrm>
            <a:off x="2207827" y="2985181"/>
            <a:ext cx="887729" cy="79979"/>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40" name="Arrow: Down 39">
            <a:extLst>
              <a:ext uri="{FF2B5EF4-FFF2-40B4-BE49-F238E27FC236}">
                <a16:creationId xmlns:a16="http://schemas.microsoft.com/office/drawing/2014/main" id="{F7D829BB-5FEE-71A4-7104-F5B3AE028085}"/>
              </a:ext>
            </a:extLst>
          </p:cNvPr>
          <p:cNvSpPr/>
          <p:nvPr/>
        </p:nvSpPr>
        <p:spPr>
          <a:xfrm>
            <a:off x="3578648" y="3189469"/>
            <a:ext cx="79430" cy="1129398"/>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BA7351AD-248F-6CFD-E0BF-7FC38259F2A1}"/>
              </a:ext>
            </a:extLst>
          </p:cNvPr>
          <p:cNvSpPr/>
          <p:nvPr/>
        </p:nvSpPr>
        <p:spPr>
          <a:xfrm>
            <a:off x="-2279802" y="3999264"/>
            <a:ext cx="775045" cy="304762"/>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2D530135-99C5-70C8-E1DC-53F641FD97D8}"/>
              </a:ext>
            </a:extLst>
          </p:cNvPr>
          <p:cNvSpPr/>
          <p:nvPr/>
        </p:nvSpPr>
        <p:spPr>
          <a:xfrm>
            <a:off x="-1979213" y="4153571"/>
            <a:ext cx="1045615" cy="305553"/>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46" name="Rectangle: Rounded Corners 45">
            <a:extLst>
              <a:ext uri="{FF2B5EF4-FFF2-40B4-BE49-F238E27FC236}">
                <a16:creationId xmlns:a16="http://schemas.microsoft.com/office/drawing/2014/main" id="{D683C4AD-C496-0B70-7921-700C0FF8DC9A}"/>
              </a:ext>
            </a:extLst>
          </p:cNvPr>
          <p:cNvSpPr/>
          <p:nvPr/>
        </p:nvSpPr>
        <p:spPr>
          <a:xfrm>
            <a:off x="-2121999" y="4049139"/>
            <a:ext cx="1045615" cy="305553"/>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48" name="Rectangle: Rounded Corners 47">
            <a:extLst>
              <a:ext uri="{FF2B5EF4-FFF2-40B4-BE49-F238E27FC236}">
                <a16:creationId xmlns:a16="http://schemas.microsoft.com/office/drawing/2014/main" id="{33148587-C19B-8087-E58A-B5FA1ACB2801}"/>
              </a:ext>
            </a:extLst>
          </p:cNvPr>
          <p:cNvSpPr/>
          <p:nvPr/>
        </p:nvSpPr>
        <p:spPr>
          <a:xfrm>
            <a:off x="-2363896" y="4046483"/>
            <a:ext cx="1045615" cy="305553"/>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6F726854-5817-C20F-A5A2-42F1DB45D494}"/>
              </a:ext>
            </a:extLst>
          </p:cNvPr>
          <p:cNvSpPr/>
          <p:nvPr/>
        </p:nvSpPr>
        <p:spPr>
          <a:xfrm>
            <a:off x="-2507314" y="4095083"/>
            <a:ext cx="1045615" cy="305553"/>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cxnSp>
        <p:nvCxnSpPr>
          <p:cNvPr id="60" name="Connector: Curved 59">
            <a:extLst>
              <a:ext uri="{FF2B5EF4-FFF2-40B4-BE49-F238E27FC236}">
                <a16:creationId xmlns:a16="http://schemas.microsoft.com/office/drawing/2014/main" id="{5E84D29E-9DEE-3B3A-5304-D1D47172EAAA}"/>
              </a:ext>
            </a:extLst>
          </p:cNvPr>
          <p:cNvCxnSpPr>
            <a:cxnSpLocks/>
            <a:endCxn id="44" idx="1"/>
          </p:cNvCxnSpPr>
          <p:nvPr/>
        </p:nvCxnSpPr>
        <p:spPr>
          <a:xfrm flipV="1">
            <a:off x="4122789" y="2477702"/>
            <a:ext cx="1260000" cy="396000"/>
          </a:xfrm>
          <a:prstGeom prst="curvedConnector3">
            <a:avLst>
              <a:gd name="adj1" fmla="val 50000"/>
            </a:avLst>
          </a:prstGeom>
          <a:ln>
            <a:tailEnd type="triangle"/>
          </a:ln>
          <a:effectLst>
            <a:outerShdw blurRad="50800" dist="38100" dir="13500000" algn="br"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cxnSp>
        <p:nvCxnSpPr>
          <p:cNvPr id="69" name="Connector: Curved 68">
            <a:extLst>
              <a:ext uri="{FF2B5EF4-FFF2-40B4-BE49-F238E27FC236}">
                <a16:creationId xmlns:a16="http://schemas.microsoft.com/office/drawing/2014/main" id="{AE0441A0-89C5-60CC-5CC0-1CDD7F9B5225}"/>
              </a:ext>
            </a:extLst>
          </p:cNvPr>
          <p:cNvCxnSpPr>
            <a:cxnSpLocks/>
            <a:endCxn id="47" idx="1"/>
          </p:cNvCxnSpPr>
          <p:nvPr/>
        </p:nvCxnSpPr>
        <p:spPr>
          <a:xfrm>
            <a:off x="4104740" y="2984785"/>
            <a:ext cx="874862" cy="816089"/>
          </a:xfrm>
          <a:prstGeom prst="curvedConnector3">
            <a:avLst>
              <a:gd name="adj1" fmla="val 50000"/>
            </a:avLst>
          </a:prstGeom>
          <a:ln>
            <a:tailEnd type="triangle"/>
          </a:ln>
          <a:effectLst>
            <a:outerShdw blurRad="50800" dist="38100" dir="2700000" algn="t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sp>
        <p:nvSpPr>
          <p:cNvPr id="72" name="Arrow: Right 71">
            <a:extLst>
              <a:ext uri="{FF2B5EF4-FFF2-40B4-BE49-F238E27FC236}">
                <a16:creationId xmlns:a16="http://schemas.microsoft.com/office/drawing/2014/main" id="{98532528-DD5B-3669-63F2-2EFBB11501F3}"/>
              </a:ext>
            </a:extLst>
          </p:cNvPr>
          <p:cNvSpPr/>
          <p:nvPr/>
        </p:nvSpPr>
        <p:spPr>
          <a:xfrm>
            <a:off x="-2342812" y="4172991"/>
            <a:ext cx="887729" cy="79979"/>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74" name="Arrow: Right 73">
            <a:extLst>
              <a:ext uri="{FF2B5EF4-FFF2-40B4-BE49-F238E27FC236}">
                <a16:creationId xmlns:a16="http://schemas.microsoft.com/office/drawing/2014/main" id="{A365F68C-79E6-3D5C-BEAE-564523333E8C}"/>
              </a:ext>
            </a:extLst>
          </p:cNvPr>
          <p:cNvSpPr/>
          <p:nvPr/>
        </p:nvSpPr>
        <p:spPr>
          <a:xfrm>
            <a:off x="-2119443" y="4041964"/>
            <a:ext cx="1141836" cy="108440"/>
          </a:xfrm>
          <a:prstGeom prst="rightArrow">
            <a:avLst/>
          </a:prstGeom>
          <a:effectLst>
            <a:outerShdw blurRad="50800" dist="38100" dir="2700000" algn="tl"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nvGrpSpPr>
          <p:cNvPr id="82" name="Group 81">
            <a:extLst>
              <a:ext uri="{FF2B5EF4-FFF2-40B4-BE49-F238E27FC236}">
                <a16:creationId xmlns:a16="http://schemas.microsoft.com/office/drawing/2014/main" id="{AE5CCC72-A804-3034-5439-38CAC2CA220A}"/>
              </a:ext>
            </a:extLst>
          </p:cNvPr>
          <p:cNvGrpSpPr/>
          <p:nvPr/>
        </p:nvGrpSpPr>
        <p:grpSpPr>
          <a:xfrm>
            <a:off x="5383435" y="2147794"/>
            <a:ext cx="1905339" cy="646331"/>
            <a:chOff x="5383435" y="2147794"/>
            <a:chExt cx="1905339" cy="646331"/>
          </a:xfrm>
        </p:grpSpPr>
        <p:sp>
          <p:nvSpPr>
            <p:cNvPr id="44" name="Rectangle: Rounded Corners 43">
              <a:extLst>
                <a:ext uri="{FF2B5EF4-FFF2-40B4-BE49-F238E27FC236}">
                  <a16:creationId xmlns:a16="http://schemas.microsoft.com/office/drawing/2014/main" id="{5FDE5FC3-A5BE-0528-FC55-64F0FC632D81}"/>
                </a:ext>
              </a:extLst>
            </p:cNvPr>
            <p:cNvSpPr/>
            <p:nvPr/>
          </p:nvSpPr>
          <p:spPr>
            <a:xfrm>
              <a:off x="5383435" y="2179556"/>
              <a:ext cx="1905339" cy="596291"/>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75" name="TextBox 74">
              <a:extLst>
                <a:ext uri="{FF2B5EF4-FFF2-40B4-BE49-F238E27FC236}">
                  <a16:creationId xmlns:a16="http://schemas.microsoft.com/office/drawing/2014/main" id="{AF29ED6A-C254-A9A8-0B95-6798FDC5A977}"/>
                </a:ext>
              </a:extLst>
            </p:cNvPr>
            <p:cNvSpPr txBox="1"/>
            <p:nvPr/>
          </p:nvSpPr>
          <p:spPr>
            <a:xfrm>
              <a:off x="5547788" y="2147794"/>
              <a:ext cx="1704358" cy="646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Register new student</a:t>
              </a:r>
            </a:p>
          </p:txBody>
        </p:sp>
      </p:grpSp>
      <p:sp>
        <p:nvSpPr>
          <p:cNvPr id="101" name="TextBox 100">
            <a:extLst>
              <a:ext uri="{FF2B5EF4-FFF2-40B4-BE49-F238E27FC236}">
                <a16:creationId xmlns:a16="http://schemas.microsoft.com/office/drawing/2014/main" id="{3C6868E5-E001-A526-291F-C7E97750D72F}"/>
              </a:ext>
            </a:extLst>
          </p:cNvPr>
          <p:cNvSpPr txBox="1"/>
          <p:nvPr/>
        </p:nvSpPr>
        <p:spPr>
          <a:xfrm>
            <a:off x="-2582216" y="3525887"/>
            <a:ext cx="1639768" cy="1477328"/>
          </a:xfrm>
          <a:prstGeom prst="rect">
            <a:avLst/>
          </a:prstGeom>
          <a:noFill/>
        </p:spPr>
        <p:txBody>
          <a:bodyPr wrap="square" rtlCol="0">
            <a:spAutoFit/>
          </a:bodyPr>
          <a:lstStyle/>
          <a:p>
            <a:r>
              <a:rPr lang="en-IN" dirty="0"/>
              <a:t>Excel attendance</a:t>
            </a:r>
          </a:p>
          <a:p>
            <a:endParaRPr lang="en-IN" dirty="0"/>
          </a:p>
          <a:p>
            <a:endParaRPr lang="en-IN" dirty="0"/>
          </a:p>
          <a:p>
            <a:r>
              <a:rPr lang="en-IN" dirty="0"/>
              <a:t>   sheet</a:t>
            </a:r>
          </a:p>
        </p:txBody>
      </p:sp>
      <p:grpSp>
        <p:nvGrpSpPr>
          <p:cNvPr id="84" name="Group 83">
            <a:extLst>
              <a:ext uri="{FF2B5EF4-FFF2-40B4-BE49-F238E27FC236}">
                <a16:creationId xmlns:a16="http://schemas.microsoft.com/office/drawing/2014/main" id="{FF1D589B-DC9B-A6EE-771F-C4B149D3881D}"/>
              </a:ext>
            </a:extLst>
          </p:cNvPr>
          <p:cNvGrpSpPr/>
          <p:nvPr/>
        </p:nvGrpSpPr>
        <p:grpSpPr>
          <a:xfrm>
            <a:off x="6981119" y="5568031"/>
            <a:ext cx="2080685" cy="923330"/>
            <a:chOff x="6981119" y="5568031"/>
            <a:chExt cx="2080685" cy="923330"/>
          </a:xfrm>
        </p:grpSpPr>
        <p:sp>
          <p:nvSpPr>
            <p:cNvPr id="95" name="Rectangle: Rounded Corners 94">
              <a:extLst>
                <a:ext uri="{FF2B5EF4-FFF2-40B4-BE49-F238E27FC236}">
                  <a16:creationId xmlns:a16="http://schemas.microsoft.com/office/drawing/2014/main" id="{71D9D247-87B4-4CBD-3EE5-331DB370CD8E}"/>
                </a:ext>
              </a:extLst>
            </p:cNvPr>
            <p:cNvSpPr/>
            <p:nvPr/>
          </p:nvSpPr>
          <p:spPr>
            <a:xfrm>
              <a:off x="6981119" y="5592331"/>
              <a:ext cx="1769252" cy="874730"/>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102" name="TextBox 101">
              <a:extLst>
                <a:ext uri="{FF2B5EF4-FFF2-40B4-BE49-F238E27FC236}">
                  <a16:creationId xmlns:a16="http://schemas.microsoft.com/office/drawing/2014/main" id="{AC3B0644-CAED-EB2D-027B-09743E2BD54B}"/>
                </a:ext>
              </a:extLst>
            </p:cNvPr>
            <p:cNvSpPr txBox="1"/>
            <p:nvPr/>
          </p:nvSpPr>
          <p:spPr>
            <a:xfrm>
              <a:off x="7304290" y="5568031"/>
              <a:ext cx="1757514" cy="923330"/>
            </a:xfrm>
            <a:prstGeom prst="rect">
              <a:avLst/>
            </a:prstGeom>
            <a:noFill/>
          </p:spPr>
          <p:txBody>
            <a:bodyPr wrap="square" rtlCol="0">
              <a:spAutoFit/>
            </a:bodyPr>
            <a:lstStyle/>
            <a:p>
              <a:r>
                <a:rPr lang="en-IN" dirty="0"/>
                <a:t>Excel </a:t>
              </a:r>
            </a:p>
            <a:p>
              <a:r>
                <a:rPr lang="en-IN" dirty="0"/>
                <a:t>attendance</a:t>
              </a:r>
            </a:p>
            <a:p>
              <a:r>
                <a:rPr lang="en-IN" dirty="0"/>
                <a:t>sheet</a:t>
              </a:r>
            </a:p>
          </p:txBody>
        </p:sp>
      </p:grpSp>
      <p:cxnSp>
        <p:nvCxnSpPr>
          <p:cNvPr id="117" name="Connector: Curved 116">
            <a:extLst>
              <a:ext uri="{FF2B5EF4-FFF2-40B4-BE49-F238E27FC236}">
                <a16:creationId xmlns:a16="http://schemas.microsoft.com/office/drawing/2014/main" id="{DF0F9AD7-59AA-C8A9-BB10-72B6A8A31088}"/>
              </a:ext>
            </a:extLst>
          </p:cNvPr>
          <p:cNvCxnSpPr>
            <a:stCxn id="75" idx="3"/>
            <a:endCxn id="83" idx="0"/>
          </p:cNvCxnSpPr>
          <p:nvPr/>
        </p:nvCxnSpPr>
        <p:spPr>
          <a:xfrm flipV="1">
            <a:off x="7252146" y="2165775"/>
            <a:ext cx="2160990" cy="305185"/>
          </a:xfrm>
          <a:prstGeom prst="curvedConnector4">
            <a:avLst>
              <a:gd name="adj1" fmla="val 31009"/>
              <a:gd name="adj2" fmla="val 180797"/>
            </a:avLst>
          </a:prstGeom>
          <a:ln>
            <a:tailEnd type="triangle"/>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cxnSp>
        <p:nvCxnSpPr>
          <p:cNvPr id="130" name="Connector: Curved 129">
            <a:extLst>
              <a:ext uri="{FF2B5EF4-FFF2-40B4-BE49-F238E27FC236}">
                <a16:creationId xmlns:a16="http://schemas.microsoft.com/office/drawing/2014/main" id="{6126A099-14BD-7395-9AF1-F13E9F46D568}"/>
              </a:ext>
            </a:extLst>
          </p:cNvPr>
          <p:cNvCxnSpPr>
            <a:stCxn id="91" idx="3"/>
            <a:endCxn id="92" idx="0"/>
          </p:cNvCxnSpPr>
          <p:nvPr/>
        </p:nvCxnSpPr>
        <p:spPr>
          <a:xfrm flipV="1">
            <a:off x="8536342" y="3500913"/>
            <a:ext cx="1690078" cy="311005"/>
          </a:xfrm>
          <a:prstGeom prst="curvedConnector4">
            <a:avLst>
              <a:gd name="adj1" fmla="val 27898"/>
              <a:gd name="adj2" fmla="val 177414"/>
            </a:avLst>
          </a:prstGeom>
          <a:ln>
            <a:tailEnd type="triangle"/>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cxnSp>
        <p:nvCxnSpPr>
          <p:cNvPr id="132" name="Connector: Curved 131">
            <a:extLst>
              <a:ext uri="{FF2B5EF4-FFF2-40B4-BE49-F238E27FC236}">
                <a16:creationId xmlns:a16="http://schemas.microsoft.com/office/drawing/2014/main" id="{C2F90F58-31C3-9E8C-84DF-B2794EF2D41E}"/>
              </a:ext>
            </a:extLst>
          </p:cNvPr>
          <p:cNvCxnSpPr>
            <a:stCxn id="50" idx="3"/>
            <a:endCxn id="102" idx="0"/>
          </p:cNvCxnSpPr>
          <p:nvPr/>
        </p:nvCxnSpPr>
        <p:spPr>
          <a:xfrm flipV="1">
            <a:off x="5841382" y="5568031"/>
            <a:ext cx="2341665" cy="448813"/>
          </a:xfrm>
          <a:prstGeom prst="curvedConnector4">
            <a:avLst>
              <a:gd name="adj1" fmla="val 31236"/>
              <a:gd name="adj2" fmla="val 150934"/>
            </a:avLst>
          </a:prstGeom>
          <a:ln>
            <a:tailEnd type="triangle"/>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sp>
        <p:nvSpPr>
          <p:cNvPr id="140" name="TextBox 139">
            <a:extLst>
              <a:ext uri="{FF2B5EF4-FFF2-40B4-BE49-F238E27FC236}">
                <a16:creationId xmlns:a16="http://schemas.microsoft.com/office/drawing/2014/main" id="{98D1DB44-15B5-893C-52CA-43D546055BD5}"/>
              </a:ext>
            </a:extLst>
          </p:cNvPr>
          <p:cNvSpPr txBox="1"/>
          <p:nvPr/>
        </p:nvSpPr>
        <p:spPr>
          <a:xfrm>
            <a:off x="-2267466" y="3921008"/>
            <a:ext cx="455210"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solidFill>
                  <a:srgbClr val="C00000"/>
                </a:solidFill>
              </a:rPr>
              <a:t>no</a:t>
            </a:r>
          </a:p>
        </p:txBody>
      </p:sp>
      <p:grpSp>
        <p:nvGrpSpPr>
          <p:cNvPr id="81" name="Group 80">
            <a:extLst>
              <a:ext uri="{FF2B5EF4-FFF2-40B4-BE49-F238E27FC236}">
                <a16:creationId xmlns:a16="http://schemas.microsoft.com/office/drawing/2014/main" id="{B0271623-A93B-C491-753F-B56F14124304}"/>
              </a:ext>
            </a:extLst>
          </p:cNvPr>
          <p:cNvGrpSpPr/>
          <p:nvPr/>
        </p:nvGrpSpPr>
        <p:grpSpPr>
          <a:xfrm>
            <a:off x="3095556" y="2212305"/>
            <a:ext cx="1212655" cy="977164"/>
            <a:chOff x="3095556" y="2212305"/>
            <a:chExt cx="1212655" cy="977164"/>
          </a:xfrm>
        </p:grpSpPr>
        <p:sp>
          <p:nvSpPr>
            <p:cNvPr id="38" name="Rectangle: Rounded Corners 37">
              <a:extLst>
                <a:ext uri="{FF2B5EF4-FFF2-40B4-BE49-F238E27FC236}">
                  <a16:creationId xmlns:a16="http://schemas.microsoft.com/office/drawing/2014/main" id="{1A1300F8-8202-A51B-07CA-C5E863835D6C}"/>
                </a:ext>
              </a:extLst>
            </p:cNvPr>
            <p:cNvSpPr/>
            <p:nvPr/>
          </p:nvSpPr>
          <p:spPr>
            <a:xfrm>
              <a:off x="3095556" y="2820137"/>
              <a:ext cx="1045615" cy="369332"/>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EDD856DF-2709-569E-02FB-E9D731FA7505}"/>
                </a:ext>
              </a:extLst>
            </p:cNvPr>
            <p:cNvSpPr txBox="1"/>
            <p:nvPr/>
          </p:nvSpPr>
          <p:spPr>
            <a:xfrm>
              <a:off x="3262596" y="2803088"/>
              <a:ext cx="1045615"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Login</a:t>
              </a:r>
            </a:p>
          </p:txBody>
        </p:sp>
        <p:pic>
          <p:nvPicPr>
            <p:cNvPr id="16" name="Graphic 15" descr="Call center with solid fill">
              <a:extLst>
                <a:ext uri="{FF2B5EF4-FFF2-40B4-BE49-F238E27FC236}">
                  <a16:creationId xmlns:a16="http://schemas.microsoft.com/office/drawing/2014/main" id="{4DE593EC-90F6-BCE8-777C-82D95C1C644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14921" y="2212305"/>
              <a:ext cx="590783" cy="590783"/>
            </a:xfrm>
            <a:prstGeom prst="rect">
              <a:avLst/>
            </a:prstGeom>
            <a:effectLst>
              <a:innerShdw blurRad="63500" dist="50800" dir="10800000">
                <a:prstClr val="black">
                  <a:alpha val="50000"/>
                </a:prstClr>
              </a:innerShdw>
              <a:reflection blurRad="6350" stA="52000" endA="300" endPos="35000" dir="5400000" sy="-100000" algn="bl" rotWithShape="0"/>
            </a:effectLst>
          </p:spPr>
        </p:pic>
      </p:grpSp>
      <p:grpSp>
        <p:nvGrpSpPr>
          <p:cNvPr id="70" name="Group 69">
            <a:extLst>
              <a:ext uri="{FF2B5EF4-FFF2-40B4-BE49-F238E27FC236}">
                <a16:creationId xmlns:a16="http://schemas.microsoft.com/office/drawing/2014/main" id="{82A89DB7-BF28-015C-9044-46F93435E66B}"/>
              </a:ext>
            </a:extLst>
          </p:cNvPr>
          <p:cNvGrpSpPr/>
          <p:nvPr/>
        </p:nvGrpSpPr>
        <p:grpSpPr>
          <a:xfrm>
            <a:off x="4872889" y="2835212"/>
            <a:ext cx="1647062" cy="1299871"/>
            <a:chOff x="4872889" y="2835212"/>
            <a:chExt cx="1647062" cy="1299871"/>
          </a:xfrm>
        </p:grpSpPr>
        <p:sp>
          <p:nvSpPr>
            <p:cNvPr id="47" name="Rectangle: Rounded Corners 46">
              <a:extLst>
                <a:ext uri="{FF2B5EF4-FFF2-40B4-BE49-F238E27FC236}">
                  <a16:creationId xmlns:a16="http://schemas.microsoft.com/office/drawing/2014/main" id="{A7C514C7-C6C8-926A-6249-ABBC630579C6}"/>
                </a:ext>
              </a:extLst>
            </p:cNvPr>
            <p:cNvSpPr/>
            <p:nvPr/>
          </p:nvSpPr>
          <p:spPr>
            <a:xfrm>
              <a:off x="4979602" y="3526681"/>
              <a:ext cx="1456485" cy="548385"/>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90" name="TextBox 89">
              <a:extLst>
                <a:ext uri="{FF2B5EF4-FFF2-40B4-BE49-F238E27FC236}">
                  <a16:creationId xmlns:a16="http://schemas.microsoft.com/office/drawing/2014/main" id="{57436CBA-BF86-DFE9-6C0E-75399921B8FE}"/>
                </a:ext>
              </a:extLst>
            </p:cNvPr>
            <p:cNvSpPr txBox="1"/>
            <p:nvPr/>
          </p:nvSpPr>
          <p:spPr>
            <a:xfrm>
              <a:off x="5133410" y="3488752"/>
              <a:ext cx="1386541" cy="646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Take attendance</a:t>
              </a:r>
            </a:p>
          </p:txBody>
        </p:sp>
        <p:pic>
          <p:nvPicPr>
            <p:cNvPr id="25" name="Graphic 24" descr="Checklist with solid fill">
              <a:extLst>
                <a:ext uri="{FF2B5EF4-FFF2-40B4-BE49-F238E27FC236}">
                  <a16:creationId xmlns:a16="http://schemas.microsoft.com/office/drawing/2014/main" id="{26293912-DB90-8166-2CF6-981D00F3F7D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872889" y="2835212"/>
              <a:ext cx="691191" cy="691191"/>
            </a:xfrm>
            <a:prstGeom prst="rect">
              <a:avLst/>
            </a:prstGeom>
            <a:effectLst>
              <a:innerShdw blurRad="63500" dist="50800" dir="10800000">
                <a:prstClr val="black">
                  <a:alpha val="50000"/>
                </a:prstClr>
              </a:innerShdw>
              <a:reflection blurRad="6350" stA="52000" endA="300" endPos="35000" dir="5400000" sy="-100000" algn="bl" rotWithShape="0"/>
            </a:effectLst>
          </p:spPr>
        </p:pic>
      </p:grpSp>
      <p:grpSp>
        <p:nvGrpSpPr>
          <p:cNvPr id="76" name="Group 75">
            <a:extLst>
              <a:ext uri="{FF2B5EF4-FFF2-40B4-BE49-F238E27FC236}">
                <a16:creationId xmlns:a16="http://schemas.microsoft.com/office/drawing/2014/main" id="{B17ECD30-C054-9C1E-C141-EB46B5DAFAAB}"/>
              </a:ext>
            </a:extLst>
          </p:cNvPr>
          <p:cNvGrpSpPr/>
          <p:nvPr/>
        </p:nvGrpSpPr>
        <p:grpSpPr>
          <a:xfrm>
            <a:off x="7094560" y="2936760"/>
            <a:ext cx="1456485" cy="1198323"/>
            <a:chOff x="7094560" y="2936760"/>
            <a:chExt cx="1456485" cy="1198323"/>
          </a:xfrm>
        </p:grpSpPr>
        <p:sp>
          <p:nvSpPr>
            <p:cNvPr id="87" name="Rectangle: Rounded Corners 86">
              <a:extLst>
                <a:ext uri="{FF2B5EF4-FFF2-40B4-BE49-F238E27FC236}">
                  <a16:creationId xmlns:a16="http://schemas.microsoft.com/office/drawing/2014/main" id="{0C22202D-AFD9-F644-5E79-E64E517A7312}"/>
                </a:ext>
              </a:extLst>
            </p:cNvPr>
            <p:cNvSpPr/>
            <p:nvPr/>
          </p:nvSpPr>
          <p:spPr>
            <a:xfrm>
              <a:off x="7094560" y="3537726"/>
              <a:ext cx="1456485" cy="548385"/>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91" name="TextBox 90">
              <a:extLst>
                <a:ext uri="{FF2B5EF4-FFF2-40B4-BE49-F238E27FC236}">
                  <a16:creationId xmlns:a16="http://schemas.microsoft.com/office/drawing/2014/main" id="{6E2DE984-7D00-23AD-0C62-6C5463B4D52E}"/>
                </a:ext>
              </a:extLst>
            </p:cNvPr>
            <p:cNvSpPr txBox="1"/>
            <p:nvPr/>
          </p:nvSpPr>
          <p:spPr>
            <a:xfrm>
              <a:off x="7237401" y="3488752"/>
              <a:ext cx="1298941" cy="646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latin typeface="Source Sans 3"/>
                </a:rPr>
                <a:t>F</a:t>
              </a:r>
              <a:r>
                <a:rPr lang="en-IN" b="0" i="0" dirty="0">
                  <a:effectLst/>
                  <a:latin typeface="Source Sans 3"/>
                </a:rPr>
                <a:t>ace recognition</a:t>
              </a:r>
              <a:endParaRPr lang="en-IN" dirty="0"/>
            </a:p>
          </p:txBody>
        </p:sp>
        <p:pic>
          <p:nvPicPr>
            <p:cNvPr id="28" name="Graphic 27" descr="Grinning face with solid fill with solid fill">
              <a:extLst>
                <a:ext uri="{FF2B5EF4-FFF2-40B4-BE49-F238E27FC236}">
                  <a16:creationId xmlns:a16="http://schemas.microsoft.com/office/drawing/2014/main" id="{26E5B558-19B7-BA47-0622-D29B45623C3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47248" y="2936760"/>
              <a:ext cx="555600" cy="555600"/>
            </a:xfrm>
            <a:prstGeom prst="rect">
              <a:avLst/>
            </a:prstGeom>
            <a:effectLst>
              <a:outerShdw blurRad="50800" dist="38100" algn="l" rotWithShape="0">
                <a:prstClr val="black">
                  <a:alpha val="40000"/>
                </a:prstClr>
              </a:outerShdw>
            </a:effectLst>
          </p:spPr>
        </p:pic>
      </p:grpSp>
      <p:grpSp>
        <p:nvGrpSpPr>
          <p:cNvPr id="77" name="Group 76">
            <a:extLst>
              <a:ext uri="{FF2B5EF4-FFF2-40B4-BE49-F238E27FC236}">
                <a16:creationId xmlns:a16="http://schemas.microsoft.com/office/drawing/2014/main" id="{8ADE8CCB-F335-0B62-2EC8-0CAA61F13887}"/>
              </a:ext>
            </a:extLst>
          </p:cNvPr>
          <p:cNvGrpSpPr/>
          <p:nvPr/>
        </p:nvGrpSpPr>
        <p:grpSpPr>
          <a:xfrm>
            <a:off x="8497254" y="1544064"/>
            <a:ext cx="1736655" cy="1268042"/>
            <a:chOff x="8497254" y="1544064"/>
            <a:chExt cx="1736655" cy="1268042"/>
          </a:xfrm>
        </p:grpSpPr>
        <p:sp>
          <p:nvSpPr>
            <p:cNvPr id="43" name="Rectangle: Rounded Corners 42">
              <a:extLst>
                <a:ext uri="{FF2B5EF4-FFF2-40B4-BE49-F238E27FC236}">
                  <a16:creationId xmlns:a16="http://schemas.microsoft.com/office/drawing/2014/main" id="{E74740E3-CA4B-5AEE-D0B2-D88A6BE5C352}"/>
                </a:ext>
              </a:extLst>
            </p:cNvPr>
            <p:cNvSpPr/>
            <p:nvPr/>
          </p:nvSpPr>
          <p:spPr>
            <a:xfrm>
              <a:off x="8497254" y="2163956"/>
              <a:ext cx="1704357" cy="596291"/>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83" name="TextBox 82">
              <a:extLst>
                <a:ext uri="{FF2B5EF4-FFF2-40B4-BE49-F238E27FC236}">
                  <a16:creationId xmlns:a16="http://schemas.microsoft.com/office/drawing/2014/main" id="{A2426F79-E554-AD6B-1601-2F4E83D152DF}"/>
                </a:ext>
              </a:extLst>
            </p:cNvPr>
            <p:cNvSpPr txBox="1"/>
            <p:nvPr/>
          </p:nvSpPr>
          <p:spPr>
            <a:xfrm>
              <a:off x="8592362" y="2165775"/>
              <a:ext cx="1641547" cy="646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Training And Register a Face</a:t>
              </a:r>
            </a:p>
          </p:txBody>
        </p:sp>
        <p:pic>
          <p:nvPicPr>
            <p:cNvPr id="30" name="Graphic 29" descr="Magnifying glass with solid fill">
              <a:extLst>
                <a:ext uri="{FF2B5EF4-FFF2-40B4-BE49-F238E27FC236}">
                  <a16:creationId xmlns:a16="http://schemas.microsoft.com/office/drawing/2014/main" id="{14B9474A-6211-3A9B-900E-7FC3310AA4F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97359" y="1544064"/>
              <a:ext cx="513395" cy="513395"/>
            </a:xfrm>
            <a:prstGeom prst="rect">
              <a:avLst/>
            </a:prstGeom>
            <a:effectLst>
              <a:outerShdw blurRad="50800" dist="38100" algn="l" rotWithShape="0">
                <a:prstClr val="black">
                  <a:alpha val="40000"/>
                </a:prstClr>
              </a:outerShdw>
            </a:effectLst>
          </p:spPr>
        </p:pic>
      </p:grpSp>
      <p:grpSp>
        <p:nvGrpSpPr>
          <p:cNvPr id="78" name="Group 77">
            <a:extLst>
              <a:ext uri="{FF2B5EF4-FFF2-40B4-BE49-F238E27FC236}">
                <a16:creationId xmlns:a16="http://schemas.microsoft.com/office/drawing/2014/main" id="{B75FDCF8-31E0-B46E-9969-4E6E878D6975}"/>
              </a:ext>
            </a:extLst>
          </p:cNvPr>
          <p:cNvGrpSpPr/>
          <p:nvPr/>
        </p:nvGrpSpPr>
        <p:grpSpPr>
          <a:xfrm>
            <a:off x="9261775" y="2719729"/>
            <a:ext cx="1711716" cy="1427515"/>
            <a:chOff x="9261775" y="2719729"/>
            <a:chExt cx="1711716" cy="1427515"/>
          </a:xfrm>
        </p:grpSpPr>
        <p:sp>
          <p:nvSpPr>
            <p:cNvPr id="86" name="Rectangle: Rounded Corners 85">
              <a:extLst>
                <a:ext uri="{FF2B5EF4-FFF2-40B4-BE49-F238E27FC236}">
                  <a16:creationId xmlns:a16="http://schemas.microsoft.com/office/drawing/2014/main" id="{F1BB5A51-3B2F-6031-98C1-6F7D76D3F7AF}"/>
                </a:ext>
              </a:extLst>
            </p:cNvPr>
            <p:cNvSpPr/>
            <p:nvPr/>
          </p:nvSpPr>
          <p:spPr>
            <a:xfrm>
              <a:off x="9261775" y="3541251"/>
              <a:ext cx="1456485" cy="548385"/>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sp>
          <p:nvSpPr>
            <p:cNvPr id="92" name="TextBox 91">
              <a:extLst>
                <a:ext uri="{FF2B5EF4-FFF2-40B4-BE49-F238E27FC236}">
                  <a16:creationId xmlns:a16="http://schemas.microsoft.com/office/drawing/2014/main" id="{9E573A3C-FBC2-2856-054A-F93B202727CB}"/>
                </a:ext>
              </a:extLst>
            </p:cNvPr>
            <p:cNvSpPr txBox="1"/>
            <p:nvPr/>
          </p:nvSpPr>
          <p:spPr>
            <a:xfrm>
              <a:off x="9479348" y="3500913"/>
              <a:ext cx="1494143" cy="646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Save into folder</a:t>
              </a:r>
            </a:p>
          </p:txBody>
        </p:sp>
        <p:pic>
          <p:nvPicPr>
            <p:cNvPr id="32" name="Graphic 31" descr="Closed book with solid fill">
              <a:extLst>
                <a:ext uri="{FF2B5EF4-FFF2-40B4-BE49-F238E27FC236}">
                  <a16:creationId xmlns:a16="http://schemas.microsoft.com/office/drawing/2014/main" id="{5072E773-C5E7-7550-8276-357845357DA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04645" y="2719729"/>
              <a:ext cx="787403" cy="787403"/>
            </a:xfrm>
            <a:prstGeom prst="rect">
              <a:avLst/>
            </a:prstGeom>
            <a:effectLst>
              <a:outerShdw blurRad="50800" dist="38100" algn="l" rotWithShape="0">
                <a:prstClr val="black">
                  <a:alpha val="40000"/>
                </a:prstClr>
              </a:outerShdw>
            </a:effectLst>
          </p:spPr>
        </p:pic>
      </p:grpSp>
      <p:grpSp>
        <p:nvGrpSpPr>
          <p:cNvPr id="80" name="Group 79">
            <a:extLst>
              <a:ext uri="{FF2B5EF4-FFF2-40B4-BE49-F238E27FC236}">
                <a16:creationId xmlns:a16="http://schemas.microsoft.com/office/drawing/2014/main" id="{EBDA4A3C-310A-7188-1210-3C4BC69C1E72}"/>
              </a:ext>
            </a:extLst>
          </p:cNvPr>
          <p:cNvGrpSpPr/>
          <p:nvPr/>
        </p:nvGrpSpPr>
        <p:grpSpPr>
          <a:xfrm>
            <a:off x="4454841" y="5021417"/>
            <a:ext cx="1778629" cy="1318592"/>
            <a:chOff x="4454841" y="5021417"/>
            <a:chExt cx="1778629" cy="1318592"/>
          </a:xfrm>
        </p:grpSpPr>
        <p:sp>
          <p:nvSpPr>
            <p:cNvPr id="50" name="Rectangle: Rounded Corners 49">
              <a:extLst>
                <a:ext uri="{FF2B5EF4-FFF2-40B4-BE49-F238E27FC236}">
                  <a16:creationId xmlns:a16="http://schemas.microsoft.com/office/drawing/2014/main" id="{48B224BA-AE34-B504-E5ED-E5F0459A4A5C}"/>
                </a:ext>
              </a:extLst>
            </p:cNvPr>
            <p:cNvSpPr/>
            <p:nvPr/>
          </p:nvSpPr>
          <p:spPr>
            <a:xfrm>
              <a:off x="4454841" y="5742651"/>
              <a:ext cx="1386541" cy="548385"/>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solidFill>
                  <a:schemeClr val="tx1"/>
                </a:solidFill>
              </a:endParaRPr>
            </a:p>
          </p:txBody>
        </p:sp>
        <p:sp>
          <p:nvSpPr>
            <p:cNvPr id="100" name="TextBox 99">
              <a:extLst>
                <a:ext uri="{FF2B5EF4-FFF2-40B4-BE49-F238E27FC236}">
                  <a16:creationId xmlns:a16="http://schemas.microsoft.com/office/drawing/2014/main" id="{24E03C9A-6C15-EA1E-A3C3-0AE6F2C1C6CC}"/>
                </a:ext>
              </a:extLst>
            </p:cNvPr>
            <p:cNvSpPr txBox="1"/>
            <p:nvPr/>
          </p:nvSpPr>
          <p:spPr>
            <a:xfrm>
              <a:off x="4506928" y="5693678"/>
              <a:ext cx="1726542" cy="646331"/>
            </a:xfrm>
            <a:prstGeom prst="rect">
              <a:avLst/>
            </a:prstGeom>
            <a:noFill/>
          </p:spPr>
          <p:txBody>
            <a:bodyPr wrap="square" rtlCol="0">
              <a:spAutoFit/>
            </a:bodyPr>
            <a:lstStyle/>
            <a:p>
              <a:r>
                <a:rPr lang="en-IN" dirty="0"/>
                <a:t>      View attendance</a:t>
              </a:r>
            </a:p>
          </p:txBody>
        </p:sp>
        <p:pic>
          <p:nvPicPr>
            <p:cNvPr id="52" name="Graphic 51" descr="Document with solid fill">
              <a:extLst>
                <a:ext uri="{FF2B5EF4-FFF2-40B4-BE49-F238E27FC236}">
                  <a16:creationId xmlns:a16="http://schemas.microsoft.com/office/drawing/2014/main" id="{301D0D01-498B-EB1B-E36F-819ACBD6920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38341" y="5021417"/>
              <a:ext cx="732278" cy="732278"/>
            </a:xfrm>
            <a:prstGeom prst="rect">
              <a:avLst/>
            </a:prstGeom>
            <a:effectLst>
              <a:outerShdw blurRad="50800" dist="38100" algn="l" rotWithShape="0">
                <a:prstClr val="black">
                  <a:alpha val="40000"/>
                </a:prstClr>
              </a:outerShdw>
            </a:effectLst>
          </p:spPr>
        </p:pic>
      </p:grpSp>
      <p:grpSp>
        <p:nvGrpSpPr>
          <p:cNvPr id="79" name="Group 78">
            <a:extLst>
              <a:ext uri="{FF2B5EF4-FFF2-40B4-BE49-F238E27FC236}">
                <a16:creationId xmlns:a16="http://schemas.microsoft.com/office/drawing/2014/main" id="{21776265-EF34-DB1D-DF49-CAE7B517A1C9}"/>
              </a:ext>
            </a:extLst>
          </p:cNvPr>
          <p:cNvGrpSpPr/>
          <p:nvPr/>
        </p:nvGrpSpPr>
        <p:grpSpPr>
          <a:xfrm>
            <a:off x="8641557" y="4518284"/>
            <a:ext cx="1947404" cy="1708718"/>
            <a:chOff x="8641557" y="4518284"/>
            <a:chExt cx="1947404" cy="1708718"/>
          </a:xfrm>
        </p:grpSpPr>
        <p:sp>
          <p:nvSpPr>
            <p:cNvPr id="94" name="Rectangle: Rounded Corners 93">
              <a:extLst>
                <a:ext uri="{FF2B5EF4-FFF2-40B4-BE49-F238E27FC236}">
                  <a16:creationId xmlns:a16="http://schemas.microsoft.com/office/drawing/2014/main" id="{76520292-509E-8C7A-6BD3-B15D9E032366}"/>
                </a:ext>
              </a:extLst>
            </p:cNvPr>
            <p:cNvSpPr/>
            <p:nvPr/>
          </p:nvSpPr>
          <p:spPr>
            <a:xfrm>
              <a:off x="8641557" y="4518284"/>
              <a:ext cx="1881291" cy="821499"/>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dirty="0"/>
            </a:p>
          </p:txBody>
        </p:sp>
        <p:cxnSp>
          <p:nvCxnSpPr>
            <p:cNvPr id="134" name="Connector: Curved 133">
              <a:extLst>
                <a:ext uri="{FF2B5EF4-FFF2-40B4-BE49-F238E27FC236}">
                  <a16:creationId xmlns:a16="http://schemas.microsoft.com/office/drawing/2014/main" id="{CA2078B2-2A5D-9795-DB6B-73B389A7956A}"/>
                </a:ext>
              </a:extLst>
            </p:cNvPr>
            <p:cNvCxnSpPr>
              <a:endCxn id="94" idx="2"/>
            </p:cNvCxnSpPr>
            <p:nvPr/>
          </p:nvCxnSpPr>
          <p:spPr>
            <a:xfrm flipV="1">
              <a:off x="8750371" y="5339783"/>
              <a:ext cx="831832" cy="677061"/>
            </a:xfrm>
            <a:prstGeom prst="curvedConnector2">
              <a:avLst/>
            </a:prstGeom>
            <a:ln>
              <a:tailEnd type="triangle"/>
            </a:ln>
            <a:effectLst>
              <a:outerShdw blurRad="50800" dist="38100" algn="l" rotWithShape="0">
                <a:prstClr val="black">
                  <a:alpha val="40000"/>
                </a:prstClr>
              </a:outerShdw>
            </a:effectLst>
          </p:spPr>
          <p:style>
            <a:lnRef idx="3">
              <a:schemeClr val="accent6"/>
            </a:lnRef>
            <a:fillRef idx="0">
              <a:schemeClr val="accent6"/>
            </a:fillRef>
            <a:effectRef idx="2">
              <a:schemeClr val="accent6"/>
            </a:effectRef>
            <a:fontRef idx="minor">
              <a:schemeClr val="tx1"/>
            </a:fontRef>
          </p:style>
        </p:cxnSp>
        <p:sp>
          <p:nvSpPr>
            <p:cNvPr id="139" name="TextBox 138">
              <a:extLst>
                <a:ext uri="{FF2B5EF4-FFF2-40B4-BE49-F238E27FC236}">
                  <a16:creationId xmlns:a16="http://schemas.microsoft.com/office/drawing/2014/main" id="{AF352AF5-4FFE-765E-461D-45F4730066BE}"/>
                </a:ext>
              </a:extLst>
            </p:cNvPr>
            <p:cNvSpPr txBox="1"/>
            <p:nvPr/>
          </p:nvSpPr>
          <p:spPr>
            <a:xfrm>
              <a:off x="8782316" y="4575892"/>
              <a:ext cx="1806645" cy="646331"/>
            </a:xfrm>
            <a:prstGeom prst="rect">
              <a:avLst/>
            </a:prstGeom>
            <a:noFill/>
          </p:spPr>
          <p:txBody>
            <a:bodyPr wrap="square" rtlCol="0">
              <a:spAutoFit/>
            </a:bodyPr>
            <a:lstStyle/>
            <a:p>
              <a:r>
                <a:rPr lang="en-IN" dirty="0"/>
                <a:t>Excel sheet as per the subject</a:t>
              </a:r>
            </a:p>
          </p:txBody>
        </p:sp>
        <p:pic>
          <p:nvPicPr>
            <p:cNvPr id="54" name="Graphic 53" descr="List with solid fill">
              <a:extLst>
                <a:ext uri="{FF2B5EF4-FFF2-40B4-BE49-F238E27FC236}">
                  <a16:creationId xmlns:a16="http://schemas.microsoft.com/office/drawing/2014/main" id="{158A01E2-B88F-3ABA-7B94-5F4D382FA96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6718" y="5397096"/>
              <a:ext cx="829906" cy="829906"/>
            </a:xfrm>
            <a:prstGeom prst="rect">
              <a:avLst/>
            </a:prstGeom>
            <a:effectLst>
              <a:outerShdw blurRad="50800" dist="38100" algn="l" rotWithShape="0">
                <a:prstClr val="black">
                  <a:alpha val="40000"/>
                </a:prstClr>
              </a:outerShdw>
            </a:effectLst>
          </p:spPr>
        </p:pic>
      </p:grpSp>
      <p:grpSp>
        <p:nvGrpSpPr>
          <p:cNvPr id="68" name="Group 67">
            <a:extLst>
              <a:ext uri="{FF2B5EF4-FFF2-40B4-BE49-F238E27FC236}">
                <a16:creationId xmlns:a16="http://schemas.microsoft.com/office/drawing/2014/main" id="{DF8A2B9C-52CE-82C0-9584-2B565E6169A0}"/>
              </a:ext>
            </a:extLst>
          </p:cNvPr>
          <p:cNvGrpSpPr/>
          <p:nvPr/>
        </p:nvGrpSpPr>
        <p:grpSpPr>
          <a:xfrm>
            <a:off x="3091362" y="4304026"/>
            <a:ext cx="1387697" cy="1203625"/>
            <a:chOff x="3091362" y="4304026"/>
            <a:chExt cx="1387697" cy="1203625"/>
          </a:xfrm>
        </p:grpSpPr>
        <p:sp>
          <p:nvSpPr>
            <p:cNvPr id="41" name="Rectangle: Rounded Corners 40">
              <a:extLst>
                <a:ext uri="{FF2B5EF4-FFF2-40B4-BE49-F238E27FC236}">
                  <a16:creationId xmlns:a16="http://schemas.microsoft.com/office/drawing/2014/main" id="{11A90668-4FB8-C028-8B6E-5DCA3E45E069}"/>
                </a:ext>
              </a:extLst>
            </p:cNvPr>
            <p:cNvSpPr/>
            <p:nvPr/>
          </p:nvSpPr>
          <p:spPr>
            <a:xfrm>
              <a:off x="3091362" y="4335047"/>
              <a:ext cx="1110184" cy="386381"/>
            </a:xfrm>
            <a:prstGeom prst="roundRect">
              <a:avLst/>
            </a:prstGeom>
            <a:effectLst>
              <a:innerShdw blurRad="63500" dist="50800" dir="10800000">
                <a:prstClr val="black">
                  <a:alpha val="50000"/>
                </a:prstClr>
              </a:innerShdw>
            </a:effectLst>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E6408A64-0095-0BEE-26B4-75600C59C3D2}"/>
                </a:ext>
              </a:extLst>
            </p:cNvPr>
            <p:cNvSpPr txBox="1"/>
            <p:nvPr/>
          </p:nvSpPr>
          <p:spPr>
            <a:xfrm>
              <a:off x="3162754" y="4304026"/>
              <a:ext cx="1316305" cy="369331"/>
            </a:xfrm>
            <a:prstGeom prst="rect">
              <a:avLst/>
            </a:prstGeom>
            <a:noFill/>
            <a:effectLst>
              <a:outerShdw blurRad="50800" dist="38100" algn="l" rotWithShape="0">
                <a:prstClr val="black">
                  <a:alpha val="40000"/>
                </a:prstClr>
              </a:outerShdw>
            </a:effectLst>
          </p:spPr>
          <p:txBody>
            <a:bodyPr wrap="square" rtlCol="0">
              <a:spAutoFit/>
            </a:bodyPr>
            <a:lstStyle/>
            <a:p>
              <a:r>
                <a:rPr lang="en-IN" dirty="0"/>
                <a:t>Register</a:t>
              </a:r>
            </a:p>
          </p:txBody>
        </p:sp>
        <p:pic>
          <p:nvPicPr>
            <p:cNvPr id="56" name="Graphic 55" descr="Gears with solid fill">
              <a:extLst>
                <a:ext uri="{FF2B5EF4-FFF2-40B4-BE49-F238E27FC236}">
                  <a16:creationId xmlns:a16="http://schemas.microsoft.com/office/drawing/2014/main" id="{FA805CEF-07AF-EA73-9847-B3ABBF37E5E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50322" y="4752028"/>
              <a:ext cx="755623" cy="755623"/>
            </a:xfrm>
            <a:prstGeom prst="rect">
              <a:avLst/>
            </a:prstGeom>
            <a:effectLst>
              <a:innerShdw blurRad="63500" dist="50800" dir="10800000">
                <a:prstClr val="black">
                  <a:alpha val="50000"/>
                </a:prstClr>
              </a:innerShdw>
            </a:effectLst>
          </p:spPr>
        </p:pic>
      </p:grpSp>
      <p:sp>
        <p:nvSpPr>
          <p:cNvPr id="15" name="Arrow: Down 14">
            <a:extLst>
              <a:ext uri="{FF2B5EF4-FFF2-40B4-BE49-F238E27FC236}">
                <a16:creationId xmlns:a16="http://schemas.microsoft.com/office/drawing/2014/main" id="{D042AE88-6C45-334C-B664-0E0C0E3AB22B}"/>
              </a:ext>
            </a:extLst>
          </p:cNvPr>
          <p:cNvSpPr/>
          <p:nvPr/>
        </p:nvSpPr>
        <p:spPr>
          <a:xfrm rot="10800000">
            <a:off x="3751796" y="3190719"/>
            <a:ext cx="79430" cy="1129398"/>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70055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95EB7B81-7996-E040-8C88-59D2CB025EA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2246458" y="1174970"/>
            <a:ext cx="6858000" cy="6858000"/>
          </a:xfrm>
          <a:prstGeom prst="rect">
            <a:avLst/>
          </a:prstGeom>
        </p:spPr>
      </p:pic>
      <p:sp>
        <p:nvSpPr>
          <p:cNvPr id="13" name="Rectangle: Rounded Corners 12">
            <a:extLst>
              <a:ext uri="{FF2B5EF4-FFF2-40B4-BE49-F238E27FC236}">
                <a16:creationId xmlns:a16="http://schemas.microsoft.com/office/drawing/2014/main" id="{D5B82BDA-418A-5EDE-A520-C18F8D0984AC}"/>
              </a:ext>
            </a:extLst>
          </p:cNvPr>
          <p:cNvSpPr/>
          <p:nvPr/>
        </p:nvSpPr>
        <p:spPr>
          <a:xfrm>
            <a:off x="3232037" y="1195067"/>
            <a:ext cx="4290646" cy="655818"/>
          </a:xfrm>
          <a:prstGeom prst="roundRect">
            <a:avLst/>
          </a:prstGeom>
          <a:effectLst>
            <a:innerShdw blurRad="63500" dist="50800" dir="10800000">
              <a:prstClr val="black">
                <a:alpha val="50000"/>
              </a:prstClr>
            </a:innerShdw>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E135BBB-9ADC-C97D-5A1B-5FE01A1A087C}"/>
              </a:ext>
            </a:extLst>
          </p:cNvPr>
          <p:cNvSpPr/>
          <p:nvPr/>
        </p:nvSpPr>
        <p:spPr>
          <a:xfrm>
            <a:off x="-1632725" y="2012345"/>
            <a:ext cx="992808" cy="95319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742766" y="2088865"/>
            <a:ext cx="933904" cy="574540"/>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nvGraphicFramePr>
            <p:xfrm flipH="1">
              <a:off x="-1623746" y="1686238"/>
              <a:ext cx="767760" cy="1273976"/>
            </p:xfrm>
            <a:graphic>
              <a:graphicData uri="http://schemas.microsoft.com/office/drawing/2017/model3d">
                <am3d:model3d r:embed="rId4">
                  <am3d:spPr>
                    <a:xfrm flipH="1">
                      <a:off x="0" y="0"/>
                      <a:ext cx="767760" cy="1273976"/>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3881711" ay="-2129747" az="-3050707"/>
                    <am3d:postTrans dx="0" dy="0" dz="0"/>
                  </am3d:trans>
                  <am3d:raster rName="Office3DRenderer" rVer="16.0.8326">
                    <am3d:blip r:embed="rId5"/>
                  </am3d:raster>
                  <am3d:objViewport viewportSz="16789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5"/>
              <a:stretch>
                <a:fillRect/>
              </a:stretch>
            </p:blipFill>
            <p:spPr>
              <a:xfrm flipH="1">
                <a:off x="-1623746" y="1686238"/>
                <a:ext cx="767760" cy="1273976"/>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572783" y="2279409"/>
            <a:ext cx="809109" cy="9672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66558" y="-2682021"/>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86588" y="-2390932"/>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44323" y="4597122"/>
            <a:ext cx="3911858" cy="3911858"/>
          </a:xfrm>
          <a:prstGeom prst="rect">
            <a:avLst/>
          </a:prstGeom>
        </p:spPr>
      </p:pic>
      <p:sp>
        <p:nvSpPr>
          <p:cNvPr id="14" name="TextBox 13">
            <a:extLst>
              <a:ext uri="{FF2B5EF4-FFF2-40B4-BE49-F238E27FC236}">
                <a16:creationId xmlns:a16="http://schemas.microsoft.com/office/drawing/2014/main" id="{81C873F7-60F1-9B9A-E34E-69FE2E24BEAD}"/>
              </a:ext>
            </a:extLst>
          </p:cNvPr>
          <p:cNvSpPr txBox="1"/>
          <p:nvPr/>
        </p:nvSpPr>
        <p:spPr>
          <a:xfrm>
            <a:off x="3849091" y="1203840"/>
            <a:ext cx="4036365" cy="584775"/>
          </a:xfrm>
          <a:prstGeom prst="rect">
            <a:avLst/>
          </a:prstGeom>
          <a:noFill/>
          <a:effectLst>
            <a:outerShdw blurRad="50800" dist="38100" algn="l" rotWithShape="0">
              <a:prstClr val="black">
                <a:alpha val="40000"/>
              </a:prstClr>
            </a:outerShdw>
          </a:effectLst>
        </p:spPr>
        <p:txBody>
          <a:bodyPr wrap="square" rtlCol="0">
            <a:spAutoFit/>
          </a:bodyPr>
          <a:lstStyle/>
          <a:p>
            <a:r>
              <a:rPr lang="en-IN" sz="3200" b="1" dirty="0">
                <a:solidFill>
                  <a:schemeClr val="bg2"/>
                </a:solidFill>
              </a:rPr>
              <a:t>  Design Details</a:t>
            </a:r>
          </a:p>
        </p:txBody>
      </p:sp>
      <p:sp>
        <p:nvSpPr>
          <p:cNvPr id="6" name="Flowchart: Terminator 5">
            <a:extLst>
              <a:ext uri="{FF2B5EF4-FFF2-40B4-BE49-F238E27FC236}">
                <a16:creationId xmlns:a16="http://schemas.microsoft.com/office/drawing/2014/main" id="{3E09E7CF-A7DE-0D47-4856-CEC4A126BD3C}"/>
              </a:ext>
            </a:extLst>
          </p:cNvPr>
          <p:cNvSpPr/>
          <p:nvPr/>
        </p:nvSpPr>
        <p:spPr>
          <a:xfrm>
            <a:off x="892426" y="2109449"/>
            <a:ext cx="1890967" cy="553956"/>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15" name="Flowchart: Terminator 14">
            <a:extLst>
              <a:ext uri="{FF2B5EF4-FFF2-40B4-BE49-F238E27FC236}">
                <a16:creationId xmlns:a16="http://schemas.microsoft.com/office/drawing/2014/main" id="{32617827-6E95-E349-67D6-80DB3A62C221}"/>
              </a:ext>
            </a:extLst>
          </p:cNvPr>
          <p:cNvSpPr/>
          <p:nvPr/>
        </p:nvSpPr>
        <p:spPr>
          <a:xfrm>
            <a:off x="3232037" y="2106399"/>
            <a:ext cx="1890967" cy="553956"/>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16" name="Flowchart: Terminator 15">
            <a:extLst>
              <a:ext uri="{FF2B5EF4-FFF2-40B4-BE49-F238E27FC236}">
                <a16:creationId xmlns:a16="http://schemas.microsoft.com/office/drawing/2014/main" id="{B26575D7-67CF-9940-AEC6-E4DFF80879C2}"/>
              </a:ext>
            </a:extLst>
          </p:cNvPr>
          <p:cNvSpPr/>
          <p:nvPr/>
        </p:nvSpPr>
        <p:spPr>
          <a:xfrm>
            <a:off x="5901760" y="2095839"/>
            <a:ext cx="1890967" cy="553956"/>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19" name="Flowchart: Terminator 18">
            <a:extLst>
              <a:ext uri="{FF2B5EF4-FFF2-40B4-BE49-F238E27FC236}">
                <a16:creationId xmlns:a16="http://schemas.microsoft.com/office/drawing/2014/main" id="{5A136EA6-501C-0066-BAFC-E957734A3268}"/>
              </a:ext>
            </a:extLst>
          </p:cNvPr>
          <p:cNvSpPr/>
          <p:nvPr/>
        </p:nvSpPr>
        <p:spPr>
          <a:xfrm>
            <a:off x="8430596" y="2085959"/>
            <a:ext cx="1890967" cy="553956"/>
          </a:xfrm>
          <a:prstGeom prst="flowChartTerminator">
            <a:avLst/>
          </a:prstGeom>
          <a:effectLst>
            <a:innerShdw blurRad="63500" dist="50800" dir="10800000">
              <a:prstClr val="black">
                <a:alpha val="50000"/>
              </a:prstClr>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68F5A0E0-EE7C-5E8E-8BFF-317FCADD3B42}"/>
              </a:ext>
            </a:extLst>
          </p:cNvPr>
          <p:cNvSpPr txBox="1"/>
          <p:nvPr/>
        </p:nvSpPr>
        <p:spPr>
          <a:xfrm>
            <a:off x="1367810" y="2198711"/>
            <a:ext cx="1518994"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latin typeface="Times New Roman" panose="02020603050405020304" pitchFamily="18" charset="0"/>
                <a:cs typeface="Times New Roman" panose="02020603050405020304" pitchFamily="18" charset="0"/>
              </a:rPr>
              <a:t>Python </a:t>
            </a:r>
          </a:p>
        </p:txBody>
      </p:sp>
      <p:sp>
        <p:nvSpPr>
          <p:cNvPr id="26" name="TextBox 25">
            <a:extLst>
              <a:ext uri="{FF2B5EF4-FFF2-40B4-BE49-F238E27FC236}">
                <a16:creationId xmlns:a16="http://schemas.microsoft.com/office/drawing/2014/main" id="{531BD0AF-E36A-388C-FE60-A9FC2D935083}"/>
              </a:ext>
            </a:extLst>
          </p:cNvPr>
          <p:cNvSpPr txBox="1"/>
          <p:nvPr/>
        </p:nvSpPr>
        <p:spPr>
          <a:xfrm>
            <a:off x="3691306" y="2188151"/>
            <a:ext cx="1549342"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latin typeface="Times New Roman" panose="02020603050405020304" pitchFamily="18" charset="0"/>
                <a:cs typeface="Times New Roman" panose="02020603050405020304" pitchFamily="18" charset="0"/>
              </a:rPr>
              <a:t>OpenCV</a:t>
            </a:r>
          </a:p>
        </p:txBody>
      </p:sp>
      <p:sp>
        <p:nvSpPr>
          <p:cNvPr id="27" name="TextBox 26">
            <a:extLst>
              <a:ext uri="{FF2B5EF4-FFF2-40B4-BE49-F238E27FC236}">
                <a16:creationId xmlns:a16="http://schemas.microsoft.com/office/drawing/2014/main" id="{3A9669CC-3F85-B959-F7DE-BCD02C06F7BA}"/>
              </a:ext>
            </a:extLst>
          </p:cNvPr>
          <p:cNvSpPr txBox="1"/>
          <p:nvPr/>
        </p:nvSpPr>
        <p:spPr>
          <a:xfrm>
            <a:off x="6386171" y="2198711"/>
            <a:ext cx="1549342"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a:latin typeface="Times New Roman" panose="02020603050405020304" pitchFamily="18" charset="0"/>
                <a:cs typeface="Times New Roman" panose="02020603050405020304" pitchFamily="18" charset="0"/>
              </a:rPr>
              <a:t>My SQL</a:t>
            </a:r>
          </a:p>
        </p:txBody>
      </p:sp>
      <p:sp>
        <p:nvSpPr>
          <p:cNvPr id="28" name="TextBox 27">
            <a:extLst>
              <a:ext uri="{FF2B5EF4-FFF2-40B4-BE49-F238E27FC236}">
                <a16:creationId xmlns:a16="http://schemas.microsoft.com/office/drawing/2014/main" id="{C092B27A-3ABA-A8A7-1043-0FA9AB8FC854}"/>
              </a:ext>
            </a:extLst>
          </p:cNvPr>
          <p:cNvSpPr txBox="1"/>
          <p:nvPr/>
        </p:nvSpPr>
        <p:spPr>
          <a:xfrm>
            <a:off x="8862124" y="2175545"/>
            <a:ext cx="1488707" cy="369332"/>
          </a:xfrm>
          <a:prstGeom prst="rect">
            <a:avLst/>
          </a:prstGeom>
          <a:noFill/>
          <a:effectLst>
            <a:outerShdw blurRad="50800" dist="38100" algn="l" rotWithShape="0">
              <a:prstClr val="black">
                <a:alpha val="40000"/>
              </a:prstClr>
            </a:outerShdw>
          </a:effectLst>
        </p:spPr>
        <p:txBody>
          <a:bodyPr wrap="square" rtlCol="0">
            <a:spAutoFit/>
          </a:bodyPr>
          <a:lstStyle/>
          <a:p>
            <a:r>
              <a:rPr lang="en-IN" dirty="0" err="1">
                <a:latin typeface="Times New Roman" panose="02020603050405020304" pitchFamily="18" charset="0"/>
                <a:cs typeface="Times New Roman" panose="02020603050405020304" pitchFamily="18" charset="0"/>
              </a:rPr>
              <a:t>Tkinter</a:t>
            </a:r>
            <a:endParaRPr lang="en-IN"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03FD04C7-A566-B91A-3610-2715475843DA}"/>
              </a:ext>
            </a:extLst>
          </p:cNvPr>
          <p:cNvSpPr txBox="1"/>
          <p:nvPr/>
        </p:nvSpPr>
        <p:spPr>
          <a:xfrm>
            <a:off x="194749" y="2836598"/>
            <a:ext cx="2999890" cy="2800767"/>
          </a:xfrm>
          <a:prstGeom prst="rect">
            <a:avLst/>
          </a:prstGeom>
          <a:noFill/>
        </p:spPr>
        <p:txBody>
          <a:bodyPr wrap="square" rtlCol="0">
            <a:spAutoFit/>
          </a:bodyPr>
          <a:lstStyle/>
          <a:p>
            <a:r>
              <a:rPr lang="en-US" sz="1600" b="0" i="0" dirty="0">
                <a:effectLst/>
                <a:latin typeface="Times New Roman" panose="02020603050405020304" pitchFamily="18" charset="0"/>
                <a:cs typeface="Times New Roman" panose="02020603050405020304" pitchFamily="18" charset="0"/>
              </a:rPr>
              <a:t>The Face Detection System will utilize Python with the OpenCV library for robust face detection capabilities. </a:t>
            </a:r>
            <a:r>
              <a:rPr lang="en-US" sz="1600" b="0" i="0" dirty="0" err="1">
                <a:effectLst/>
                <a:latin typeface="Times New Roman" panose="02020603050405020304" pitchFamily="18" charset="0"/>
                <a:cs typeface="Times New Roman" panose="02020603050405020304" pitchFamily="18" charset="0"/>
              </a:rPr>
              <a:t>Tkinter</a:t>
            </a:r>
            <a:r>
              <a:rPr lang="en-US" sz="1600" b="0" i="0" dirty="0">
                <a:effectLst/>
                <a:latin typeface="Times New Roman" panose="02020603050405020304" pitchFamily="18" charset="0"/>
                <a:cs typeface="Times New Roman" panose="02020603050405020304" pitchFamily="18" charset="0"/>
              </a:rPr>
              <a:t> will be employed for the user interface, offering a user-friendly experience. The system will employ pre-trained models like </a:t>
            </a:r>
            <a:r>
              <a:rPr lang="en-US" sz="1600" b="0" i="0" dirty="0" err="1">
                <a:effectLst/>
                <a:latin typeface="Times New Roman" panose="02020603050405020304" pitchFamily="18" charset="0"/>
                <a:cs typeface="Times New Roman" panose="02020603050405020304" pitchFamily="18" charset="0"/>
              </a:rPr>
              <a:t>Haar</a:t>
            </a:r>
            <a:r>
              <a:rPr lang="en-US" sz="1600" b="0" i="0" dirty="0">
                <a:effectLst/>
                <a:latin typeface="Times New Roman" panose="02020603050405020304" pitchFamily="18" charset="0"/>
                <a:cs typeface="Times New Roman" panose="02020603050405020304" pitchFamily="18" charset="0"/>
              </a:rPr>
              <a:t> Cascades or Convolutional Neural Networks (</a:t>
            </a:r>
            <a:r>
              <a:rPr lang="en-US" sz="1600" b="0" i="0" dirty="0" err="1">
                <a:effectLst/>
                <a:latin typeface="Times New Roman" panose="02020603050405020304" pitchFamily="18" charset="0"/>
                <a:cs typeface="Times New Roman" panose="02020603050405020304" pitchFamily="18" charset="0"/>
              </a:rPr>
              <a:t>CNNs</a:t>
            </a:r>
            <a:r>
              <a:rPr lang="en-US" sz="1600" b="0" i="0" dirty="0">
                <a:effectLst/>
                <a:latin typeface="Times New Roman" panose="02020603050405020304" pitchFamily="18" charset="0"/>
                <a:cs typeface="Times New Roman" panose="02020603050405020304" pitchFamily="18" charset="0"/>
              </a:rPr>
              <a:t>) for accurate face detection.</a:t>
            </a:r>
            <a:endParaRPr lang="en-IN" sz="16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B8A745CF-7C35-37A6-6E75-72CE1AEEF853}"/>
              </a:ext>
            </a:extLst>
          </p:cNvPr>
          <p:cNvSpPr txBox="1"/>
          <p:nvPr/>
        </p:nvSpPr>
        <p:spPr>
          <a:xfrm>
            <a:off x="3290250" y="2777024"/>
            <a:ext cx="2231581"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a:t>
            </a:r>
            <a:r>
              <a:rPr lang="en-US" sz="1600" b="0" i="0" dirty="0">
                <a:effectLst/>
                <a:latin typeface="Times New Roman" panose="02020603050405020304" pitchFamily="18" charset="0"/>
                <a:cs typeface="Times New Roman" panose="02020603050405020304" pitchFamily="18" charset="0"/>
              </a:rPr>
              <a:t>esigning a face detection system using OpenCV involves setting up the development environment, processing input images, implementing face detection algorithms, and face landmark detection and recognition.</a:t>
            </a:r>
            <a:endParaRPr lang="en-IN" sz="16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BE628559-6574-A151-5FD7-B06C4F293C72}"/>
              </a:ext>
            </a:extLst>
          </p:cNvPr>
          <p:cNvSpPr txBox="1"/>
          <p:nvPr/>
        </p:nvSpPr>
        <p:spPr>
          <a:xfrm>
            <a:off x="5901760" y="2783782"/>
            <a:ext cx="2231581" cy="1569660"/>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We have use my </a:t>
            </a:r>
            <a:r>
              <a:rPr lang="en-US" sz="1600" dirty="0" err="1">
                <a:latin typeface="Times New Roman" panose="02020603050405020304" pitchFamily="18" charset="0"/>
                <a:cs typeface="Times New Roman" panose="02020603050405020304" pitchFamily="18" charset="0"/>
              </a:rPr>
              <a:t>sql</a:t>
            </a:r>
            <a:r>
              <a:rPr lang="en-US" sz="1600" dirty="0">
                <a:latin typeface="Times New Roman" panose="02020603050405020304" pitchFamily="18" charset="0"/>
                <a:cs typeface="Times New Roman" panose="02020603050405020304" pitchFamily="18" charset="0"/>
              </a:rPr>
              <a:t> for the data base. efficient in data managing and easy to use interface. through witch we can manage large amount of data</a:t>
            </a:r>
            <a:endParaRPr lang="en-IN" sz="16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CC6D197B-B781-6337-3599-66383F1CDC85}"/>
              </a:ext>
            </a:extLst>
          </p:cNvPr>
          <p:cNvSpPr txBox="1"/>
          <p:nvPr/>
        </p:nvSpPr>
        <p:spPr>
          <a:xfrm>
            <a:off x="8389575" y="2783782"/>
            <a:ext cx="2120202" cy="3293209"/>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T</a:t>
            </a:r>
            <a:r>
              <a:rPr lang="en-US" sz="1600" b="0" i="0" dirty="0" err="1">
                <a:effectLst/>
                <a:latin typeface="Times New Roman" panose="02020603050405020304" pitchFamily="18" charset="0"/>
                <a:cs typeface="Times New Roman" panose="02020603050405020304" pitchFamily="18" charset="0"/>
              </a:rPr>
              <a:t>kinter</a:t>
            </a:r>
            <a:r>
              <a:rPr lang="en-US" sz="1600" b="0" i="0" dirty="0">
                <a:effectLst/>
                <a:latin typeface="Times New Roman" panose="02020603050405020304" pitchFamily="18" charset="0"/>
                <a:cs typeface="Times New Roman" panose="02020603050405020304" pitchFamily="18" charset="0"/>
              </a:rPr>
              <a:t> will serve as the graphical user interface toolkit for the  Face Detection System, offering a cross-platform solution for GUI development in Python. It will provide widgets and tools for creating an intuitive user interface with features like buttons, labels, and input fields</a:t>
            </a:r>
            <a:r>
              <a:rPr lang="en-US" sz="1600" b="0" i="0" dirty="0">
                <a:effectLst/>
                <a:latin typeface="Söhne"/>
              </a:rPr>
              <a:t>.</a:t>
            </a:r>
            <a:endParaRPr lang="en-IN" sz="1600" dirty="0">
              <a:latin typeface="Candara" panose="020E0502030303020204" pitchFamily="34" charset="0"/>
            </a:endParaRPr>
          </a:p>
        </p:txBody>
      </p:sp>
    </p:spTree>
    <p:extLst>
      <p:ext uri="{BB962C8B-B14F-4D97-AF65-F5344CB8AC3E}">
        <p14:creationId xmlns:p14="http://schemas.microsoft.com/office/powerpoint/2010/main" val="875726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E97DF52B-02C6-4B45-64A6-AEC5F6E1C3DD}"/>
              </a:ext>
            </a:extLst>
          </p:cNvPr>
          <p:cNvSpPr/>
          <p:nvPr/>
        </p:nvSpPr>
        <p:spPr>
          <a:xfrm>
            <a:off x="6785683" y="3070706"/>
            <a:ext cx="4170083" cy="2845623"/>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00BA0EB0-E413-B84D-C8B9-67DF031FC68E}"/>
              </a:ext>
            </a:extLst>
          </p:cNvPr>
          <p:cNvSpPr/>
          <p:nvPr/>
        </p:nvSpPr>
        <p:spPr>
          <a:xfrm>
            <a:off x="1236234" y="2677499"/>
            <a:ext cx="5177721" cy="3476753"/>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sp>
        <p:nvSpPr>
          <p:cNvPr id="13" name="Rectangle: Rounded Corners 12">
            <a:extLst>
              <a:ext uri="{FF2B5EF4-FFF2-40B4-BE49-F238E27FC236}">
                <a16:creationId xmlns:a16="http://schemas.microsoft.com/office/drawing/2014/main" id="{D5B82BDA-418A-5EDE-A520-C18F8D0984AC}"/>
              </a:ext>
            </a:extLst>
          </p:cNvPr>
          <p:cNvSpPr/>
          <p:nvPr/>
        </p:nvSpPr>
        <p:spPr>
          <a:xfrm>
            <a:off x="3309987" y="1256393"/>
            <a:ext cx="4766956" cy="1083944"/>
          </a:xfrm>
          <a:prstGeom prst="roundRect">
            <a:avLst/>
          </a:prstGeom>
          <a:effectLst>
            <a:innerShdw blurRad="63500" dist="50800" dir="10800000">
              <a:prstClr val="black">
                <a:alpha val="50000"/>
              </a:prstClr>
            </a:innerShdw>
            <a:reflection blurRad="6350" stA="52000" endA="300" endPos="35000" dir="5400000" sy="-100000" algn="bl" rotWithShape="0"/>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BE135BBB-9ADC-C97D-5A1B-5FE01A1A087C}"/>
              </a:ext>
            </a:extLst>
          </p:cNvPr>
          <p:cNvSpPr/>
          <p:nvPr/>
        </p:nvSpPr>
        <p:spPr>
          <a:xfrm>
            <a:off x="-1632725" y="2012345"/>
            <a:ext cx="992808" cy="95319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742766" y="2088865"/>
            <a:ext cx="933904" cy="574540"/>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nvGraphicFramePr>
            <p:xfrm flipH="1">
              <a:off x="-1623746" y="1686238"/>
              <a:ext cx="767760" cy="1273976"/>
            </p:xfrm>
            <a:graphic>
              <a:graphicData uri="http://schemas.microsoft.com/office/drawing/2017/model3d">
                <am3d:model3d r:embed="rId2">
                  <am3d:spPr>
                    <a:xfrm flipH="1">
                      <a:off x="0" y="0"/>
                      <a:ext cx="767760" cy="1273976"/>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3881711" ay="-2129747" az="-3050707"/>
                    <am3d:postTrans dx="0" dy="0" dz="0"/>
                  </am3d:trans>
                  <am3d:raster rName="Office3DRenderer" rVer="16.0.8326">
                    <am3d:blip r:embed="rId3"/>
                  </am3d:raster>
                  <am3d:objViewport viewportSz="16789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flipH="1">
                <a:off x="-1623746" y="1686238"/>
                <a:ext cx="767760" cy="1273976"/>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572783" y="2279409"/>
            <a:ext cx="809109" cy="9672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2695" y="-2636464"/>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72783" y="-2415639"/>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
        <p:nvSpPr>
          <p:cNvPr id="14" name="TextBox 13">
            <a:extLst>
              <a:ext uri="{FF2B5EF4-FFF2-40B4-BE49-F238E27FC236}">
                <a16:creationId xmlns:a16="http://schemas.microsoft.com/office/drawing/2014/main" id="{81C873F7-60F1-9B9A-E34E-69FE2E24BEAD}"/>
              </a:ext>
            </a:extLst>
          </p:cNvPr>
          <p:cNvSpPr txBox="1"/>
          <p:nvPr/>
        </p:nvSpPr>
        <p:spPr>
          <a:xfrm>
            <a:off x="4040578" y="1235959"/>
            <a:ext cx="4036365" cy="1077218"/>
          </a:xfrm>
          <a:prstGeom prst="rect">
            <a:avLst/>
          </a:prstGeom>
          <a:noFill/>
          <a:effectLst>
            <a:outerShdw blurRad="50800" dist="38100" algn="l" rotWithShape="0">
              <a:prstClr val="black">
                <a:alpha val="40000"/>
              </a:prstClr>
            </a:outerShdw>
          </a:effectLst>
        </p:spPr>
        <p:txBody>
          <a:bodyPr wrap="square" rtlCol="0">
            <a:spAutoFit/>
          </a:bodyPr>
          <a:lstStyle/>
          <a:p>
            <a:r>
              <a:rPr lang="en-IN" sz="3200" b="1" dirty="0">
                <a:solidFill>
                  <a:schemeClr val="bg2"/>
                </a:solidFill>
              </a:rPr>
              <a:t>Hardware And Software Details </a:t>
            </a:r>
          </a:p>
        </p:txBody>
      </p:sp>
      <p:sp>
        <p:nvSpPr>
          <p:cNvPr id="6" name="Rectangle: Rounded Corners 5">
            <a:extLst>
              <a:ext uri="{FF2B5EF4-FFF2-40B4-BE49-F238E27FC236}">
                <a16:creationId xmlns:a16="http://schemas.microsoft.com/office/drawing/2014/main" id="{862B0AD1-16BA-A142-2546-121E436C0AEF}"/>
              </a:ext>
            </a:extLst>
          </p:cNvPr>
          <p:cNvSpPr/>
          <p:nvPr/>
        </p:nvSpPr>
        <p:spPr>
          <a:xfrm>
            <a:off x="1602491" y="2982823"/>
            <a:ext cx="4490101" cy="2933506"/>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16" name="TextBox 15">
            <a:extLst>
              <a:ext uri="{FF2B5EF4-FFF2-40B4-BE49-F238E27FC236}">
                <a16:creationId xmlns:a16="http://schemas.microsoft.com/office/drawing/2014/main" id="{090D85B8-A78C-DD23-873E-C4E0AF846516}"/>
              </a:ext>
            </a:extLst>
          </p:cNvPr>
          <p:cNvSpPr txBox="1"/>
          <p:nvPr/>
        </p:nvSpPr>
        <p:spPr>
          <a:xfrm>
            <a:off x="1867535" y="2935722"/>
            <a:ext cx="4041652" cy="5386090"/>
          </a:xfrm>
          <a:prstGeom prst="rect">
            <a:avLst/>
          </a:prstGeom>
          <a:noFill/>
          <a:effectLst>
            <a:outerShdw blurRad="50800" dist="38100" algn="l" rotWithShape="0">
              <a:prstClr val="black">
                <a:alpha val="40000"/>
              </a:prstClr>
            </a:outerShdw>
          </a:effectLst>
        </p:spPr>
        <p:txBody>
          <a:bodyPr wrap="square" rtlCol="0">
            <a:spAutoFit/>
          </a:bodyPr>
          <a:lstStyle/>
          <a:p>
            <a:r>
              <a:rPr lang="en-IN" sz="2400" dirty="0">
                <a:solidFill>
                  <a:schemeClr val="bg2"/>
                </a:solidFill>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Software</a:t>
            </a:r>
          </a:p>
          <a:p>
            <a:pPr algn="l"/>
            <a:r>
              <a:rPr lang="en-IN" sz="2000" dirty="0">
                <a:latin typeface="Times New Roman" panose="02020603050405020304" pitchFamily="18" charset="0"/>
                <a:cs typeface="Times New Roman" panose="02020603050405020304" pitchFamily="18" charset="0"/>
              </a:rPr>
              <a:t>1.</a:t>
            </a:r>
            <a:r>
              <a:rPr lang="en-IN" sz="2000" dirty="0">
                <a:solidFill>
                  <a:schemeClr val="bg2"/>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VS code editor</a:t>
            </a:r>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algn="l"/>
            <a:r>
              <a:rPr lang="en-US" sz="1800" dirty="0">
                <a:latin typeface="Times New Roman" panose="02020603050405020304" pitchFamily="18" charset="0"/>
                <a:cs typeface="Times New Roman" panose="02020603050405020304" pitchFamily="18" charset="0"/>
              </a:rPr>
              <a:t>2. Operating System </a:t>
            </a:r>
          </a:p>
          <a:p>
            <a:pPr algn="l"/>
            <a:endParaRPr lang="en-US" sz="1800"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3. Python version 3.0 or above</a:t>
            </a:r>
          </a:p>
          <a:p>
            <a:pPr algn="l"/>
            <a:endParaRPr lang="en-IN" sz="1600" dirty="0">
              <a:solidFill>
                <a:schemeClr val="bg2"/>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OpenCV</a:t>
            </a:r>
          </a:p>
          <a:p>
            <a:endParaRPr lang="en-IN" sz="16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5. My SQL</a:t>
            </a:r>
          </a:p>
          <a:p>
            <a:endParaRPr lang="en-IN" sz="2000" dirty="0">
              <a:solidFill>
                <a:schemeClr val="bg2"/>
              </a:solidFill>
            </a:endParaRPr>
          </a:p>
          <a:p>
            <a:endParaRPr lang="en-IN" sz="2000" dirty="0">
              <a:solidFill>
                <a:schemeClr val="bg2"/>
              </a:solidFill>
            </a:endParaRPr>
          </a:p>
          <a:p>
            <a:endParaRPr lang="en-IN" sz="2000" dirty="0">
              <a:solidFill>
                <a:schemeClr val="bg2"/>
              </a:solidFill>
            </a:endParaRPr>
          </a:p>
          <a:p>
            <a:r>
              <a:rPr lang="en-IN" sz="2000" dirty="0">
                <a:solidFill>
                  <a:schemeClr val="bg2"/>
                </a:solidFill>
              </a:rPr>
              <a:t> </a:t>
            </a:r>
          </a:p>
          <a:p>
            <a:endParaRPr lang="en-IN" sz="2000" dirty="0">
              <a:solidFill>
                <a:schemeClr val="bg2"/>
              </a:solidFill>
            </a:endParaRPr>
          </a:p>
          <a:p>
            <a:endParaRPr lang="en-IN" sz="2000" dirty="0">
              <a:solidFill>
                <a:schemeClr val="bg2"/>
              </a:solidFill>
            </a:endParaRPr>
          </a:p>
          <a:p>
            <a:endParaRPr lang="en-IN" sz="2000" dirty="0">
              <a:solidFill>
                <a:schemeClr val="bg2"/>
              </a:solidFill>
            </a:endParaRPr>
          </a:p>
          <a:p>
            <a:endParaRPr lang="en-IN" sz="2000" dirty="0">
              <a:solidFill>
                <a:schemeClr val="bg2"/>
              </a:solidFill>
            </a:endParaRPr>
          </a:p>
        </p:txBody>
      </p:sp>
      <p:sp>
        <p:nvSpPr>
          <p:cNvPr id="19" name="Rectangle: Rounded Corners 18">
            <a:extLst>
              <a:ext uri="{FF2B5EF4-FFF2-40B4-BE49-F238E27FC236}">
                <a16:creationId xmlns:a16="http://schemas.microsoft.com/office/drawing/2014/main" id="{6DE0FF8B-B7DF-694F-3EA0-E0A5E559B569}"/>
              </a:ext>
            </a:extLst>
          </p:cNvPr>
          <p:cNvSpPr/>
          <p:nvPr/>
        </p:nvSpPr>
        <p:spPr>
          <a:xfrm>
            <a:off x="6940384" y="3234821"/>
            <a:ext cx="3827132" cy="2531742"/>
          </a:xfrm>
          <a:prstGeom prst="roundRect">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26" name="TextBox 25">
            <a:extLst>
              <a:ext uri="{FF2B5EF4-FFF2-40B4-BE49-F238E27FC236}">
                <a16:creationId xmlns:a16="http://schemas.microsoft.com/office/drawing/2014/main" id="{4001B2EF-8EFB-B1BC-B945-0F9D7B51B1D4}"/>
              </a:ext>
            </a:extLst>
          </p:cNvPr>
          <p:cNvSpPr txBox="1"/>
          <p:nvPr/>
        </p:nvSpPr>
        <p:spPr>
          <a:xfrm>
            <a:off x="7158898" y="3261981"/>
            <a:ext cx="3372247" cy="2369880"/>
          </a:xfrm>
          <a:prstGeom prst="rect">
            <a:avLst/>
          </a:prstGeom>
          <a:noFill/>
          <a:effectLst>
            <a:outerShdw blurRad="50800" dist="38100" algn="l" rotWithShape="0">
              <a:prstClr val="black">
                <a:alpha val="40000"/>
              </a:prstClr>
            </a:outerShdw>
          </a:effectLst>
        </p:spPr>
        <p:txBody>
          <a:bodyPr wrap="square" rtlCol="0">
            <a:spAutoFit/>
          </a:bodyPr>
          <a:lstStyle/>
          <a:p>
            <a:r>
              <a:rPr lang="en-IN" sz="2400" b="1" dirty="0">
                <a:latin typeface="Times New Roman" panose="02020603050405020304" pitchFamily="18" charset="0"/>
                <a:cs typeface="Times New Roman" panose="02020603050405020304" pitchFamily="18" charset="0"/>
              </a:rPr>
              <a:t>             Hardware</a:t>
            </a:r>
          </a:p>
          <a:p>
            <a:pPr marL="0" lvl="0" indent="0" algn="l" rtl="0">
              <a:lnSpc>
                <a:spcPct val="150000"/>
              </a:lnSpc>
              <a:spcBef>
                <a:spcPts val="0"/>
              </a:spcBef>
              <a:spcAft>
                <a:spcPts val="0"/>
              </a:spcAft>
              <a:buNone/>
            </a:pPr>
            <a:r>
              <a:rPr lang="en-US" dirty="0">
                <a:latin typeface="Times New Roman" panose="02020603050405020304" pitchFamily="18" charset="0"/>
                <a:ea typeface="Barlow Semi Condensed"/>
                <a:cs typeface="Times New Roman" panose="02020603050405020304" pitchFamily="18" charset="0"/>
                <a:sym typeface="Barlow Semi Condensed"/>
              </a:rPr>
              <a:t>1. RAM: 512 MB RAM</a:t>
            </a:r>
          </a:p>
          <a:p>
            <a:pPr marL="0" lvl="0" indent="0" algn="l" rtl="0">
              <a:lnSpc>
                <a:spcPct val="150000"/>
              </a:lnSpc>
              <a:spcBef>
                <a:spcPts val="0"/>
              </a:spcBef>
              <a:spcAft>
                <a:spcPts val="0"/>
              </a:spcAft>
              <a:buNone/>
            </a:pPr>
            <a:r>
              <a:rPr lang="en-US" dirty="0">
                <a:latin typeface="Times New Roman" panose="02020603050405020304" pitchFamily="18" charset="0"/>
                <a:ea typeface="Barlow Semi Condensed"/>
                <a:cs typeface="Times New Roman" panose="02020603050405020304" pitchFamily="18" charset="0"/>
                <a:sym typeface="Barlow Semi Condensed"/>
              </a:rPr>
              <a:t>2. Hard Drive: 4 GB Hard Drive</a:t>
            </a:r>
          </a:p>
          <a:p>
            <a:pPr marL="0" lvl="0" indent="0" algn="l" rtl="0">
              <a:lnSpc>
                <a:spcPct val="150000"/>
              </a:lnSpc>
              <a:spcBef>
                <a:spcPts val="0"/>
              </a:spcBef>
              <a:spcAft>
                <a:spcPts val="0"/>
              </a:spcAft>
              <a:buNone/>
            </a:pPr>
            <a:r>
              <a:rPr lang="en-US" dirty="0">
                <a:latin typeface="Times New Roman" panose="02020603050405020304" pitchFamily="18" charset="0"/>
                <a:ea typeface="Barlow Semi Condensed"/>
                <a:cs typeface="Times New Roman" panose="02020603050405020304" pitchFamily="18" charset="0"/>
                <a:sym typeface="Barlow Semi Condensed"/>
              </a:rPr>
              <a:t>3. Processor: Intel Core-</a:t>
            </a:r>
            <a:r>
              <a:rPr lang="en-US" dirty="0" err="1">
                <a:latin typeface="Times New Roman" panose="02020603050405020304" pitchFamily="18" charset="0"/>
                <a:ea typeface="Barlow Semi Condensed"/>
                <a:cs typeface="Times New Roman" panose="02020603050405020304" pitchFamily="18" charset="0"/>
                <a:sym typeface="Barlow Semi Condensed"/>
              </a:rPr>
              <a:t>i</a:t>
            </a:r>
            <a:r>
              <a:rPr lang="en-US" dirty="0" err="1">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ea typeface="Barlow Semi Condensed"/>
                <a:cs typeface="Times New Roman" panose="02020603050405020304" pitchFamily="18" charset="0"/>
                <a:sym typeface="Barlow Semi Condensed"/>
              </a:rPr>
              <a:t> Processor</a:t>
            </a:r>
          </a:p>
          <a:p>
            <a:endParaRPr lang="en-IN" sz="1600" dirty="0"/>
          </a:p>
        </p:txBody>
      </p:sp>
    </p:spTree>
    <p:extLst>
      <p:ext uri="{BB962C8B-B14F-4D97-AF65-F5344CB8AC3E}">
        <p14:creationId xmlns:p14="http://schemas.microsoft.com/office/powerpoint/2010/main" val="326863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5B82BDA-418A-5EDE-A520-C18F8D0984AC}"/>
              </a:ext>
            </a:extLst>
          </p:cNvPr>
          <p:cNvSpPr/>
          <p:nvPr/>
        </p:nvSpPr>
        <p:spPr>
          <a:xfrm>
            <a:off x="3387380" y="855636"/>
            <a:ext cx="4290646" cy="655818"/>
          </a:xfrm>
          <a:prstGeom prst="roundRect">
            <a:avLst/>
          </a:prstGeom>
          <a:effectLst>
            <a:innerShdw blurRad="63500" dist="50800" dir="13500000">
              <a:prstClr val="black">
                <a:alpha val="50000"/>
              </a:prstClr>
            </a:innerShdw>
            <a:reflection blurRad="6350" stA="52000" endA="300" endPos="35000" dir="5400000" sy="-100000" algn="bl" rotWithShape="0"/>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E135BBB-9ADC-C97D-5A1B-5FE01A1A087C}"/>
              </a:ext>
            </a:extLst>
          </p:cNvPr>
          <p:cNvSpPr/>
          <p:nvPr/>
        </p:nvSpPr>
        <p:spPr>
          <a:xfrm>
            <a:off x="-1632725" y="2012345"/>
            <a:ext cx="992808" cy="95319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2BEB34CE-1EC8-D1E3-70F8-463C4A4D16C2}"/>
              </a:ext>
            </a:extLst>
          </p:cNvPr>
          <p:cNvSpPr/>
          <p:nvPr/>
        </p:nvSpPr>
        <p:spPr>
          <a:xfrm>
            <a:off x="-1742766" y="2088865"/>
            <a:ext cx="933904" cy="574540"/>
          </a:xfrm>
          <a:prstGeom prst="round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IN" dirty="0"/>
          </a:p>
        </p:txBody>
      </p:sp>
      <mc:AlternateContent xmlns:mc="http://schemas.openxmlformats.org/markup-compatibility/2006">
        <mc:Choice xmlns:am3d="http://schemas.microsoft.com/office/drawing/2017/model3d" Requires="am3d">
          <p:graphicFrame>
            <p:nvGraphicFramePr>
              <p:cNvPr id="2" name="3D Model 1" descr="Materialbot">
                <a:extLst>
                  <a:ext uri="{FF2B5EF4-FFF2-40B4-BE49-F238E27FC236}">
                    <a16:creationId xmlns:a16="http://schemas.microsoft.com/office/drawing/2014/main" id="{637106C4-36A4-439C-0D71-6D721BA16230}"/>
                  </a:ext>
                </a:extLst>
              </p:cNvPr>
              <p:cNvGraphicFramePr>
                <a:graphicFrameLocks noChangeAspect="1"/>
              </p:cNvGraphicFramePr>
              <p:nvPr/>
            </p:nvGraphicFramePr>
            <p:xfrm flipH="1">
              <a:off x="-1623746" y="1686238"/>
              <a:ext cx="767760" cy="1273976"/>
            </p:xfrm>
            <a:graphic>
              <a:graphicData uri="http://schemas.microsoft.com/office/drawing/2017/model3d">
                <am3d:model3d r:embed="rId2">
                  <am3d:spPr>
                    <a:xfrm flipH="1">
                      <a:off x="0" y="0"/>
                      <a:ext cx="767760" cy="1273976"/>
                    </a:xfrm>
                    <a:prstGeom prst="rect">
                      <a:avLst/>
                    </a:prstGeom>
                  </am3d:spPr>
                  <am3d:camera>
                    <am3d:pos x="0" y="0" z="60396081"/>
                    <am3d:up dx="0" dy="36000000" dz="0"/>
                    <am3d:lookAt x="0" y="0" z="0"/>
                    <am3d:perspective fov="2700000"/>
                  </am3d:camera>
                  <am3d:trans>
                    <am3d:meterPerModelUnit n="16704" d="1000000"/>
                    <am3d:preTrans dx="0" dy="-18000000" dz="-1139793"/>
                    <am3d:scale>
                      <am3d:sx n="1000000" d="1000000"/>
                      <am3d:sy n="1000000" d="1000000"/>
                      <am3d:sz n="1000000" d="1000000"/>
                    </am3d:scale>
                    <am3d:rot ax="3881711" ay="-2129747" az="-3050707"/>
                    <am3d:postTrans dx="0" dy="0" dz="0"/>
                  </am3d:trans>
                  <am3d:raster rName="Office3DRenderer" rVer="16.0.8326">
                    <am3d:blip r:embed="rId3"/>
                  </am3d:raster>
                  <am3d:objViewport viewportSz="16789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Materialbot">
                <a:extLst>
                  <a:ext uri="{FF2B5EF4-FFF2-40B4-BE49-F238E27FC236}">
                    <a16:creationId xmlns:a16="http://schemas.microsoft.com/office/drawing/2014/main" id="{637106C4-36A4-439C-0D71-6D721BA16230}"/>
                  </a:ext>
                </a:extLst>
              </p:cNvPr>
              <p:cNvPicPr>
                <a:picLocks noGrp="1" noRot="1" noChangeAspect="1" noMove="1" noResize="1" noEditPoints="1" noAdjustHandles="1" noChangeArrowheads="1" noChangeShapeType="1" noCrop="1"/>
              </p:cNvPicPr>
              <p:nvPr/>
            </p:nvPicPr>
            <p:blipFill>
              <a:blip r:embed="rId3"/>
              <a:stretch>
                <a:fillRect/>
              </a:stretch>
            </p:blipFill>
            <p:spPr>
              <a:xfrm flipH="1">
                <a:off x="-1623746" y="1686238"/>
                <a:ext cx="767760" cy="1273976"/>
              </a:xfrm>
              <a:prstGeom prst="rect">
                <a:avLst/>
              </a:prstGeom>
            </p:spPr>
          </p:pic>
        </mc:Fallback>
      </mc:AlternateContent>
      <p:sp>
        <p:nvSpPr>
          <p:cNvPr id="3" name="Rectangle: Rounded Corners 2">
            <a:extLst>
              <a:ext uri="{FF2B5EF4-FFF2-40B4-BE49-F238E27FC236}">
                <a16:creationId xmlns:a16="http://schemas.microsoft.com/office/drawing/2014/main" id="{E8303430-DF4A-E345-D5FA-B67730E875FA}"/>
              </a:ext>
            </a:extLst>
          </p:cNvPr>
          <p:cNvSpPr/>
          <p:nvPr/>
        </p:nvSpPr>
        <p:spPr>
          <a:xfrm>
            <a:off x="-1572783" y="2279409"/>
            <a:ext cx="809109" cy="96726"/>
          </a:xfrm>
          <a:prstGeom prst="roundRect">
            <a:avLst/>
          </a:prstGeom>
          <a:effectLst>
            <a:innerShdw blurRad="63500" dist="50800" dir="10800000">
              <a:prstClr val="black">
                <a:alpha val="50000"/>
              </a:prstClr>
            </a:inn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3A3ACAF-250E-F7E2-C400-6270F0A8006B}"/>
              </a:ext>
            </a:extLst>
          </p:cNvPr>
          <p:cNvSpPr/>
          <p:nvPr/>
        </p:nvSpPr>
        <p:spPr>
          <a:xfrm>
            <a:off x="14718890" y="2440471"/>
            <a:ext cx="673511" cy="89266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8CE2B0-F888-153F-D0E8-799B6B58676D}"/>
              </a:ext>
            </a:extLst>
          </p:cNvPr>
          <p:cNvSpPr/>
          <p:nvPr/>
        </p:nvSpPr>
        <p:spPr>
          <a:xfrm>
            <a:off x="14418910" y="3234821"/>
            <a:ext cx="1681413" cy="236211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9" name="Oval 8">
            <a:extLst>
              <a:ext uri="{FF2B5EF4-FFF2-40B4-BE49-F238E27FC236}">
                <a16:creationId xmlns:a16="http://schemas.microsoft.com/office/drawing/2014/main" id="{04B48E7A-81CC-DFA6-066F-4614DDD13300}"/>
              </a:ext>
            </a:extLst>
          </p:cNvPr>
          <p:cNvSpPr/>
          <p:nvPr/>
        </p:nvSpPr>
        <p:spPr>
          <a:xfrm flipH="1" flipV="1">
            <a:off x="14959783" y="-1705878"/>
            <a:ext cx="299882" cy="37606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Oval 9">
            <a:extLst>
              <a:ext uri="{FF2B5EF4-FFF2-40B4-BE49-F238E27FC236}">
                <a16:creationId xmlns:a16="http://schemas.microsoft.com/office/drawing/2014/main" id="{B8B3AC5E-65B3-52B6-06E3-B1D1E7BE3423}"/>
              </a:ext>
            </a:extLst>
          </p:cNvPr>
          <p:cNvSpPr/>
          <p:nvPr/>
        </p:nvSpPr>
        <p:spPr>
          <a:xfrm>
            <a:off x="8853950" y="-1705878"/>
            <a:ext cx="486696" cy="978291"/>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F190F050-81CD-DD70-646E-C6E4A72BAB33}"/>
              </a:ext>
            </a:extLst>
          </p:cNvPr>
          <p:cNvSpPr/>
          <p:nvPr/>
        </p:nvSpPr>
        <p:spPr>
          <a:xfrm>
            <a:off x="14532077" y="2886803"/>
            <a:ext cx="186813" cy="80029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2" name="Oval 11">
            <a:extLst>
              <a:ext uri="{FF2B5EF4-FFF2-40B4-BE49-F238E27FC236}">
                <a16:creationId xmlns:a16="http://schemas.microsoft.com/office/drawing/2014/main" id="{007C6022-B19A-62A7-8BF8-A8E01143CD75}"/>
              </a:ext>
            </a:extLst>
          </p:cNvPr>
          <p:cNvSpPr/>
          <p:nvPr/>
        </p:nvSpPr>
        <p:spPr>
          <a:xfrm>
            <a:off x="13421032" y="548167"/>
            <a:ext cx="462117" cy="2101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17" name="Graphic 16" descr="A wreath with olives and leaves">
            <a:extLst>
              <a:ext uri="{FF2B5EF4-FFF2-40B4-BE49-F238E27FC236}">
                <a16:creationId xmlns:a16="http://schemas.microsoft.com/office/drawing/2014/main" id="{FB2BBF87-67DA-C9AE-56A1-A356BA20EA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64864" y="-2726749"/>
            <a:ext cx="4022281" cy="4022281"/>
          </a:xfrm>
          <a:prstGeom prst="rect">
            <a:avLst/>
          </a:prstGeom>
        </p:spPr>
      </p:pic>
      <p:pic>
        <p:nvPicPr>
          <p:cNvPr id="18" name="Graphic 17" descr="A wreath with olives and leaves">
            <a:extLst>
              <a:ext uri="{FF2B5EF4-FFF2-40B4-BE49-F238E27FC236}">
                <a16:creationId xmlns:a16="http://schemas.microsoft.com/office/drawing/2014/main" id="{A3E185A1-8FA7-7D7F-5736-9B525116468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2569" y="-2378274"/>
            <a:ext cx="4165006" cy="4165006"/>
          </a:xfrm>
          <a:prstGeom prst="rect">
            <a:avLst/>
          </a:prstGeom>
        </p:spPr>
      </p:pic>
      <p:pic>
        <p:nvPicPr>
          <p:cNvPr id="20" name="Graphic 19" descr="A collection of circles in various sizes and patterns">
            <a:extLst>
              <a:ext uri="{FF2B5EF4-FFF2-40B4-BE49-F238E27FC236}">
                <a16:creationId xmlns:a16="http://schemas.microsoft.com/office/drawing/2014/main" id="{D7DA0A66-B4B3-BB6F-A3D2-D0F7570B4F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24220" y="-2312564"/>
            <a:ext cx="4008271" cy="4008271"/>
          </a:xfrm>
          <a:prstGeom prst="rect">
            <a:avLst/>
          </a:prstGeom>
        </p:spPr>
      </p:pic>
      <p:pic>
        <p:nvPicPr>
          <p:cNvPr id="21" name="Graphic 20" descr="A collection of circles in various sizes and patterns">
            <a:extLst>
              <a:ext uri="{FF2B5EF4-FFF2-40B4-BE49-F238E27FC236}">
                <a16:creationId xmlns:a16="http://schemas.microsoft.com/office/drawing/2014/main" id="{CDA70074-F6A9-29CD-86FA-6CE9E6147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10169163" y="407009"/>
            <a:ext cx="3911858" cy="3911858"/>
          </a:xfrm>
          <a:prstGeom prst="rect">
            <a:avLst/>
          </a:prstGeom>
        </p:spPr>
      </p:pic>
      <p:pic>
        <p:nvPicPr>
          <p:cNvPr id="22" name="Graphic 21" descr="A collection of circles in various sizes and patterns">
            <a:extLst>
              <a:ext uri="{FF2B5EF4-FFF2-40B4-BE49-F238E27FC236}">
                <a16:creationId xmlns:a16="http://schemas.microsoft.com/office/drawing/2014/main" id="{43D5CADE-8D31-4655-D840-81469C1DF6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0026377" y="2845166"/>
            <a:ext cx="3911858" cy="3911858"/>
          </a:xfrm>
          <a:prstGeom prst="rect">
            <a:avLst/>
          </a:prstGeom>
        </p:spPr>
      </p:pic>
      <p:pic>
        <p:nvPicPr>
          <p:cNvPr id="23" name="Graphic 22" descr="A collection of circles in various sizes and patterns">
            <a:extLst>
              <a:ext uri="{FF2B5EF4-FFF2-40B4-BE49-F238E27FC236}">
                <a16:creationId xmlns:a16="http://schemas.microsoft.com/office/drawing/2014/main" id="{FBB2B2D3-188E-D063-1FFC-5891C6E403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97770" y="4801095"/>
            <a:ext cx="3911858" cy="3911858"/>
          </a:xfrm>
          <a:prstGeom prst="rect">
            <a:avLst/>
          </a:prstGeom>
        </p:spPr>
      </p:pic>
      <p:pic>
        <p:nvPicPr>
          <p:cNvPr id="24" name="Graphic 23" descr="A collection of circles in various sizes and patterns">
            <a:extLst>
              <a:ext uri="{FF2B5EF4-FFF2-40B4-BE49-F238E27FC236}">
                <a16:creationId xmlns:a16="http://schemas.microsoft.com/office/drawing/2014/main" id="{C696979D-DFB9-CAAF-763D-1861FEE20B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44323" y="4597122"/>
            <a:ext cx="3911858" cy="3911858"/>
          </a:xfrm>
          <a:prstGeom prst="rect">
            <a:avLst/>
          </a:prstGeom>
        </p:spPr>
      </p:pic>
      <p:sp>
        <p:nvSpPr>
          <p:cNvPr id="14" name="TextBox 13">
            <a:extLst>
              <a:ext uri="{FF2B5EF4-FFF2-40B4-BE49-F238E27FC236}">
                <a16:creationId xmlns:a16="http://schemas.microsoft.com/office/drawing/2014/main" id="{81C873F7-60F1-9B9A-E34E-69FE2E24BEAD}"/>
              </a:ext>
            </a:extLst>
          </p:cNvPr>
          <p:cNvSpPr txBox="1"/>
          <p:nvPr/>
        </p:nvSpPr>
        <p:spPr>
          <a:xfrm>
            <a:off x="4532609" y="883649"/>
            <a:ext cx="4036365" cy="584775"/>
          </a:xfrm>
          <a:prstGeom prst="rect">
            <a:avLst/>
          </a:prstGeom>
          <a:noFill/>
          <a:effectLst>
            <a:outerShdw blurRad="50800" dist="38100" algn="l" rotWithShape="0">
              <a:prstClr val="black">
                <a:alpha val="40000"/>
              </a:prstClr>
            </a:outerShdw>
          </a:effectLst>
        </p:spPr>
        <p:txBody>
          <a:bodyPr wrap="square" rtlCol="0">
            <a:spAutoFit/>
          </a:bodyPr>
          <a:lstStyle/>
          <a:p>
            <a:r>
              <a:rPr lang="en-IN" sz="3200" b="1" dirty="0">
                <a:ln w="19050">
                  <a:solidFill>
                    <a:schemeClr val="tx1"/>
                  </a:solidFill>
                </a:ln>
                <a:solidFill>
                  <a:schemeClr val="bg2"/>
                </a:solidFill>
              </a:rPr>
              <a:t>RESULT  </a:t>
            </a:r>
          </a:p>
        </p:txBody>
      </p:sp>
      <p:pic>
        <p:nvPicPr>
          <p:cNvPr id="15" name="Picture 14">
            <a:extLst>
              <a:ext uri="{FF2B5EF4-FFF2-40B4-BE49-F238E27FC236}">
                <a16:creationId xmlns:a16="http://schemas.microsoft.com/office/drawing/2014/main" id="{B0C934EE-B039-54B6-F511-5E907F2679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408" y="2265928"/>
            <a:ext cx="5754413" cy="3235545"/>
          </a:xfrm>
          <a:prstGeom prst="rect">
            <a:avLst/>
          </a:prstGeom>
        </p:spPr>
      </p:pic>
      <p:pic>
        <p:nvPicPr>
          <p:cNvPr id="19" name="Picture 18">
            <a:extLst>
              <a:ext uri="{FF2B5EF4-FFF2-40B4-BE49-F238E27FC236}">
                <a16:creationId xmlns:a16="http://schemas.microsoft.com/office/drawing/2014/main" id="{0AB52950-9812-5535-9B01-10B4D07E78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42877" y="2289507"/>
            <a:ext cx="5752080" cy="3235545"/>
          </a:xfrm>
          <a:prstGeom prst="rect">
            <a:avLst/>
          </a:prstGeom>
        </p:spPr>
      </p:pic>
      <p:sp>
        <p:nvSpPr>
          <p:cNvPr id="27" name="TextBox 26">
            <a:extLst>
              <a:ext uri="{FF2B5EF4-FFF2-40B4-BE49-F238E27FC236}">
                <a16:creationId xmlns:a16="http://schemas.microsoft.com/office/drawing/2014/main" id="{A592F74F-FA5F-941B-F314-C109C8FE97AB}"/>
              </a:ext>
            </a:extLst>
          </p:cNvPr>
          <p:cNvSpPr txBox="1"/>
          <p:nvPr/>
        </p:nvSpPr>
        <p:spPr>
          <a:xfrm>
            <a:off x="1532087" y="5867531"/>
            <a:ext cx="2087816" cy="584775"/>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I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Login Page </a:t>
            </a:r>
          </a:p>
        </p:txBody>
      </p:sp>
      <p:sp>
        <p:nvSpPr>
          <p:cNvPr id="28" name="TextBox 27">
            <a:extLst>
              <a:ext uri="{FF2B5EF4-FFF2-40B4-BE49-F238E27FC236}">
                <a16:creationId xmlns:a16="http://schemas.microsoft.com/office/drawing/2014/main" id="{6256369C-61E4-4000-DC4C-4A61AACD5216}"/>
              </a:ext>
            </a:extLst>
          </p:cNvPr>
          <p:cNvSpPr txBox="1"/>
          <p:nvPr/>
        </p:nvSpPr>
        <p:spPr>
          <a:xfrm>
            <a:off x="7857445" y="5826464"/>
            <a:ext cx="3133550" cy="584775"/>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I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Registration Page</a:t>
            </a:r>
          </a:p>
        </p:txBody>
      </p:sp>
    </p:spTree>
    <p:extLst>
      <p:ext uri="{BB962C8B-B14F-4D97-AF65-F5344CB8AC3E}">
        <p14:creationId xmlns:p14="http://schemas.microsoft.com/office/powerpoint/2010/main" val="10249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96B12034-794C-77F0-1295-3240DE889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990" y="914400"/>
            <a:ext cx="10282468" cy="5783888"/>
          </a:xfrm>
          <a:prstGeom prst="rect">
            <a:avLst/>
          </a:prstGeom>
        </p:spPr>
      </p:pic>
      <p:sp>
        <p:nvSpPr>
          <p:cNvPr id="2" name="TextBox 1">
            <a:extLst>
              <a:ext uri="{FF2B5EF4-FFF2-40B4-BE49-F238E27FC236}">
                <a16:creationId xmlns:a16="http://schemas.microsoft.com/office/drawing/2014/main" id="{EB3194B8-92E0-B09B-5145-0D844025AEF4}"/>
              </a:ext>
            </a:extLst>
          </p:cNvPr>
          <p:cNvSpPr txBox="1"/>
          <p:nvPr/>
        </p:nvSpPr>
        <p:spPr>
          <a:xfrm>
            <a:off x="1847424" y="268069"/>
            <a:ext cx="7869463"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err="1">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HomePage</a:t>
            </a: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 Interface for Faculty </a:t>
            </a:r>
          </a:p>
        </p:txBody>
      </p:sp>
    </p:spTree>
    <p:extLst>
      <p:ext uri="{BB962C8B-B14F-4D97-AF65-F5344CB8AC3E}">
        <p14:creationId xmlns:p14="http://schemas.microsoft.com/office/powerpoint/2010/main" val="2180917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194B8-92E0-B09B-5145-0D844025AEF4}"/>
              </a:ext>
            </a:extLst>
          </p:cNvPr>
          <p:cNvSpPr txBox="1"/>
          <p:nvPr/>
        </p:nvSpPr>
        <p:spPr>
          <a:xfrm>
            <a:off x="2317110" y="268069"/>
            <a:ext cx="6930102"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Registration of Student Face</a:t>
            </a:r>
          </a:p>
        </p:txBody>
      </p:sp>
      <p:pic>
        <p:nvPicPr>
          <p:cNvPr id="4" name="Picture 3">
            <a:extLst>
              <a:ext uri="{FF2B5EF4-FFF2-40B4-BE49-F238E27FC236}">
                <a16:creationId xmlns:a16="http://schemas.microsoft.com/office/drawing/2014/main" id="{D08B5ED3-C80F-E5DE-DA9D-CA4A4F768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4400"/>
            <a:ext cx="6194323" cy="2984090"/>
          </a:xfrm>
          <a:prstGeom prst="rect">
            <a:avLst/>
          </a:prstGeom>
        </p:spPr>
      </p:pic>
      <p:pic>
        <p:nvPicPr>
          <p:cNvPr id="6" name="Picture 5">
            <a:extLst>
              <a:ext uri="{FF2B5EF4-FFF2-40B4-BE49-F238E27FC236}">
                <a16:creationId xmlns:a16="http://schemas.microsoft.com/office/drawing/2014/main" id="{7F7F47CB-1A5E-5CEC-58B3-C6BF06FB9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4323" y="3873910"/>
            <a:ext cx="5997677" cy="2984090"/>
          </a:xfrm>
          <a:prstGeom prst="rect">
            <a:avLst/>
          </a:prstGeom>
        </p:spPr>
      </p:pic>
      <p:sp>
        <p:nvSpPr>
          <p:cNvPr id="7" name="TextBox 6">
            <a:extLst>
              <a:ext uri="{FF2B5EF4-FFF2-40B4-BE49-F238E27FC236}">
                <a16:creationId xmlns:a16="http://schemas.microsoft.com/office/drawing/2014/main" id="{51E86179-2F31-50FB-4B74-DA746FB1EAA1}"/>
              </a:ext>
            </a:extLst>
          </p:cNvPr>
          <p:cNvSpPr txBox="1"/>
          <p:nvPr/>
        </p:nvSpPr>
        <p:spPr>
          <a:xfrm>
            <a:off x="6381134" y="1685921"/>
            <a:ext cx="5073445" cy="1200329"/>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 Entering Student Information</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
        <p:nvSpPr>
          <p:cNvPr id="10" name="TextBox 9">
            <a:extLst>
              <a:ext uri="{FF2B5EF4-FFF2-40B4-BE49-F238E27FC236}">
                <a16:creationId xmlns:a16="http://schemas.microsoft.com/office/drawing/2014/main" id="{E2D5895E-5FE9-4CBD-3FFA-28B694FF5204}"/>
              </a:ext>
            </a:extLst>
          </p:cNvPr>
          <p:cNvSpPr txBox="1"/>
          <p:nvPr/>
        </p:nvSpPr>
        <p:spPr>
          <a:xfrm>
            <a:off x="560438" y="4905985"/>
            <a:ext cx="5073445" cy="1200329"/>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Training Student Faces </a:t>
            </a: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 </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Tree>
    <p:extLst>
      <p:ext uri="{BB962C8B-B14F-4D97-AF65-F5344CB8AC3E}">
        <p14:creationId xmlns:p14="http://schemas.microsoft.com/office/powerpoint/2010/main" val="1017814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194B8-92E0-B09B-5145-0D844025AEF4}"/>
              </a:ext>
            </a:extLst>
          </p:cNvPr>
          <p:cNvSpPr txBox="1"/>
          <p:nvPr/>
        </p:nvSpPr>
        <p:spPr>
          <a:xfrm>
            <a:off x="3361736" y="140250"/>
            <a:ext cx="4642618"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Taking Attendance</a:t>
            </a:r>
          </a:p>
        </p:txBody>
      </p:sp>
      <p:pic>
        <p:nvPicPr>
          <p:cNvPr id="4" name="Picture 3">
            <a:extLst>
              <a:ext uri="{FF2B5EF4-FFF2-40B4-BE49-F238E27FC236}">
                <a16:creationId xmlns:a16="http://schemas.microsoft.com/office/drawing/2014/main" id="{4E05AA34-67BE-3F10-CFE2-29BC9474D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6581"/>
            <a:ext cx="6007510" cy="3196712"/>
          </a:xfrm>
          <a:prstGeom prst="rect">
            <a:avLst/>
          </a:prstGeom>
        </p:spPr>
      </p:pic>
      <p:pic>
        <p:nvPicPr>
          <p:cNvPr id="6" name="Picture 5">
            <a:extLst>
              <a:ext uri="{FF2B5EF4-FFF2-40B4-BE49-F238E27FC236}">
                <a16:creationId xmlns:a16="http://schemas.microsoft.com/office/drawing/2014/main" id="{E638D523-F8C0-F636-B0D2-3567D72FF2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690" y="3661288"/>
            <a:ext cx="6312310" cy="3196712"/>
          </a:xfrm>
          <a:prstGeom prst="rect">
            <a:avLst/>
          </a:prstGeom>
        </p:spPr>
      </p:pic>
      <p:sp>
        <p:nvSpPr>
          <p:cNvPr id="7" name="TextBox 6">
            <a:extLst>
              <a:ext uri="{FF2B5EF4-FFF2-40B4-BE49-F238E27FC236}">
                <a16:creationId xmlns:a16="http://schemas.microsoft.com/office/drawing/2014/main" id="{A75AA25B-2E34-5D00-A059-6F008250A18D}"/>
              </a:ext>
            </a:extLst>
          </p:cNvPr>
          <p:cNvSpPr txBox="1"/>
          <p:nvPr/>
        </p:nvSpPr>
        <p:spPr>
          <a:xfrm>
            <a:off x="314632" y="4543483"/>
            <a:ext cx="5073445" cy="1754326"/>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Recognizing Student Faces for attendance </a:t>
            </a: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 </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
        <p:nvSpPr>
          <p:cNvPr id="8" name="TextBox 7">
            <a:extLst>
              <a:ext uri="{FF2B5EF4-FFF2-40B4-BE49-F238E27FC236}">
                <a16:creationId xmlns:a16="http://schemas.microsoft.com/office/drawing/2014/main" id="{AAA10025-4B2F-13A9-5C8B-2CFA42065CAC}"/>
              </a:ext>
            </a:extLst>
          </p:cNvPr>
          <p:cNvSpPr txBox="1"/>
          <p:nvPr/>
        </p:nvSpPr>
        <p:spPr>
          <a:xfrm>
            <a:off x="6376219" y="1490566"/>
            <a:ext cx="5073445" cy="1200329"/>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 Entering Subject Name</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Tree>
    <p:extLst>
      <p:ext uri="{BB962C8B-B14F-4D97-AF65-F5344CB8AC3E}">
        <p14:creationId xmlns:p14="http://schemas.microsoft.com/office/powerpoint/2010/main" val="3030801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194B8-92E0-B09B-5145-0D844025AEF4}"/>
              </a:ext>
            </a:extLst>
          </p:cNvPr>
          <p:cNvSpPr txBox="1"/>
          <p:nvPr/>
        </p:nvSpPr>
        <p:spPr>
          <a:xfrm>
            <a:off x="2354254" y="140250"/>
            <a:ext cx="6657592"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Checking Attendance Entry</a:t>
            </a:r>
          </a:p>
        </p:txBody>
      </p:sp>
      <p:sp>
        <p:nvSpPr>
          <p:cNvPr id="7" name="TextBox 6">
            <a:extLst>
              <a:ext uri="{FF2B5EF4-FFF2-40B4-BE49-F238E27FC236}">
                <a16:creationId xmlns:a16="http://schemas.microsoft.com/office/drawing/2014/main" id="{A75AA25B-2E34-5D00-A059-6F008250A18D}"/>
              </a:ext>
            </a:extLst>
          </p:cNvPr>
          <p:cNvSpPr txBox="1"/>
          <p:nvPr/>
        </p:nvSpPr>
        <p:spPr>
          <a:xfrm>
            <a:off x="314632" y="4543483"/>
            <a:ext cx="5073445" cy="1200329"/>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Attendance Excel Sheet Saved  </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pic>
        <p:nvPicPr>
          <p:cNvPr id="5" name="Picture 4">
            <a:extLst>
              <a:ext uri="{FF2B5EF4-FFF2-40B4-BE49-F238E27FC236}">
                <a16:creationId xmlns:a16="http://schemas.microsoft.com/office/drawing/2014/main" id="{BCFAB6CE-BFC7-911B-5BB1-93AF22746133}"/>
              </a:ext>
            </a:extLst>
          </p:cNvPr>
          <p:cNvPicPr>
            <a:picLocks noChangeAspect="1"/>
          </p:cNvPicPr>
          <p:nvPr/>
        </p:nvPicPr>
        <p:blipFill rotWithShape="1">
          <a:blip r:embed="rId2">
            <a:extLst>
              <a:ext uri="{28A0092B-C50C-407E-A947-70E740481C1C}">
                <a14:useLocalDpi xmlns:a14="http://schemas.microsoft.com/office/drawing/2010/main" val="0"/>
              </a:ext>
            </a:extLst>
          </a:blip>
          <a:srcRect r="34155" b="30918"/>
          <a:stretch/>
        </p:blipFill>
        <p:spPr>
          <a:xfrm>
            <a:off x="6082367" y="3822968"/>
            <a:ext cx="6109633" cy="3003755"/>
          </a:xfrm>
          <a:prstGeom prst="rect">
            <a:avLst/>
          </a:prstGeom>
        </p:spPr>
      </p:pic>
      <p:pic>
        <p:nvPicPr>
          <p:cNvPr id="10" name="Picture 9">
            <a:extLst>
              <a:ext uri="{FF2B5EF4-FFF2-40B4-BE49-F238E27FC236}">
                <a16:creationId xmlns:a16="http://schemas.microsoft.com/office/drawing/2014/main" id="{46E5FADB-AF55-6700-22A5-055278289BCD}"/>
              </a:ext>
            </a:extLst>
          </p:cNvPr>
          <p:cNvPicPr>
            <a:picLocks noChangeAspect="1"/>
          </p:cNvPicPr>
          <p:nvPr/>
        </p:nvPicPr>
        <p:blipFill rotWithShape="1">
          <a:blip r:embed="rId3">
            <a:extLst>
              <a:ext uri="{28A0092B-C50C-407E-A947-70E740481C1C}">
                <a14:useLocalDpi xmlns:a14="http://schemas.microsoft.com/office/drawing/2010/main" val="0"/>
              </a:ext>
            </a:extLst>
          </a:blip>
          <a:srcRect t="14353" r="66206" b="53661"/>
          <a:stretch/>
        </p:blipFill>
        <p:spPr>
          <a:xfrm>
            <a:off x="0" y="980090"/>
            <a:ext cx="6082367" cy="3070799"/>
          </a:xfrm>
          <a:prstGeom prst="rect">
            <a:avLst/>
          </a:prstGeom>
        </p:spPr>
      </p:pic>
      <p:sp>
        <p:nvSpPr>
          <p:cNvPr id="11" name="TextBox 10">
            <a:extLst>
              <a:ext uri="{FF2B5EF4-FFF2-40B4-BE49-F238E27FC236}">
                <a16:creationId xmlns:a16="http://schemas.microsoft.com/office/drawing/2014/main" id="{798EE141-43D6-3745-5BC0-ACAA914D3EB9}"/>
              </a:ext>
            </a:extLst>
          </p:cNvPr>
          <p:cNvSpPr txBox="1"/>
          <p:nvPr/>
        </p:nvSpPr>
        <p:spPr>
          <a:xfrm>
            <a:off x="6475123" y="1569225"/>
            <a:ext cx="5073445" cy="1200329"/>
          </a:xfrm>
          <a:prstGeom prst="rect">
            <a:avLst/>
          </a:prstGeom>
          <a:noFill/>
        </p:spPr>
        <p:txBody>
          <a:bodyPr wrap="squar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sym typeface="Wingdings" panose="05000000000000000000" pitchFamily="2" charset="2"/>
              </a:rPr>
              <a:t> Student Entry in Excel Sheet</a:t>
            </a:r>
            <a:endPar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Tree>
    <p:extLst>
      <p:ext uri="{BB962C8B-B14F-4D97-AF65-F5344CB8AC3E}">
        <p14:creationId xmlns:p14="http://schemas.microsoft.com/office/powerpoint/2010/main" val="208937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194B8-92E0-B09B-5145-0D844025AEF4}"/>
              </a:ext>
            </a:extLst>
          </p:cNvPr>
          <p:cNvSpPr txBox="1"/>
          <p:nvPr/>
        </p:nvSpPr>
        <p:spPr>
          <a:xfrm>
            <a:off x="4226559" y="140250"/>
            <a:ext cx="2912977"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Conclusion</a:t>
            </a:r>
          </a:p>
        </p:txBody>
      </p:sp>
      <p:sp>
        <p:nvSpPr>
          <p:cNvPr id="4" name="Rectangle: Rounded Corners 3">
            <a:extLst>
              <a:ext uri="{FF2B5EF4-FFF2-40B4-BE49-F238E27FC236}">
                <a16:creationId xmlns:a16="http://schemas.microsoft.com/office/drawing/2014/main" id="{CB2DAFD3-E501-96DB-E843-01EB5C424991}"/>
              </a:ext>
            </a:extLst>
          </p:cNvPr>
          <p:cNvSpPr/>
          <p:nvPr/>
        </p:nvSpPr>
        <p:spPr>
          <a:xfrm>
            <a:off x="1135680" y="1093406"/>
            <a:ext cx="9679804" cy="5523703"/>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9E1F3EE6-8BA7-29DA-45E7-EDFC6E14D009}"/>
              </a:ext>
            </a:extLst>
          </p:cNvPr>
          <p:cNvSpPr/>
          <p:nvPr/>
        </p:nvSpPr>
        <p:spPr>
          <a:xfrm>
            <a:off x="1529998" y="1469568"/>
            <a:ext cx="8990518" cy="46362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lnSpc>
                <a:spcPct val="150000"/>
              </a:lnSpc>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Facial Detection Attendance System in Python has successfully demonstrated the potential of facial recognition technology in automating attendance processes. By utilizing advanced image processing and machine learning algorithms, the system has been able to accurately detect and identify individuals within a given environment. The implementation of this system has led to increased efficiency, reduced human error, and enhanced security in managing attendance records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35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194B8-92E0-B09B-5145-0D844025AEF4}"/>
              </a:ext>
            </a:extLst>
          </p:cNvPr>
          <p:cNvSpPr txBox="1"/>
          <p:nvPr/>
        </p:nvSpPr>
        <p:spPr>
          <a:xfrm>
            <a:off x="4018174" y="140250"/>
            <a:ext cx="3329759" cy="646331"/>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pPr algn="ctr"/>
            <a:r>
              <a:rPr lang="en-IN" sz="3600" b="1"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Future Scope</a:t>
            </a:r>
          </a:p>
        </p:txBody>
      </p:sp>
      <p:sp>
        <p:nvSpPr>
          <p:cNvPr id="3" name="Rectangle: Rounded Corners 2">
            <a:extLst>
              <a:ext uri="{FF2B5EF4-FFF2-40B4-BE49-F238E27FC236}">
                <a16:creationId xmlns:a16="http://schemas.microsoft.com/office/drawing/2014/main" id="{6A48833E-6F15-F91C-DB1A-D591B989CF04}"/>
              </a:ext>
            </a:extLst>
          </p:cNvPr>
          <p:cNvSpPr/>
          <p:nvPr/>
        </p:nvSpPr>
        <p:spPr>
          <a:xfrm>
            <a:off x="1135680" y="1093406"/>
            <a:ext cx="9679804" cy="5523703"/>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12A9DE77-39A8-6238-61AE-3BA7AD091775}"/>
              </a:ext>
            </a:extLst>
          </p:cNvPr>
          <p:cNvSpPr/>
          <p:nvPr/>
        </p:nvSpPr>
        <p:spPr>
          <a:xfrm>
            <a:off x="1376516" y="1179870"/>
            <a:ext cx="9232490" cy="530941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342900" lvl="0" indent="-342900" algn="just">
              <a:lnSpc>
                <a:spcPct val="115000"/>
              </a:lnSpc>
              <a:spcAft>
                <a:spcPts val="1000"/>
              </a:spcAft>
              <a:tabLst>
                <a:tab pos="457200" algn="l"/>
              </a:tabLst>
            </a:pP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Scalability: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system can be scaled to accommodate larger organizations or institutions, ensuring that it remains efficient and effective even as the number of users increases.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tabLst>
                <a:tab pos="457200" algn="l"/>
              </a:tabLst>
            </a:pPr>
            <a:r>
              <a:rPr lang="en-US" sz="2000" b="1" i="1" dirty="0">
                <a:effectLst/>
                <a:latin typeface="Times New Roman" panose="02020603050405020304" pitchFamily="18" charset="0"/>
                <a:ea typeface="Times New Roman" panose="02020603050405020304" pitchFamily="18" charset="0"/>
                <a:cs typeface="Times New Roman" panose="02020603050405020304" pitchFamily="18" charset="0"/>
              </a:rPr>
              <a:t>Multiple Face Detection: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future of multiple face detection involves optimizing algorithms for real-time processing, enabling applications to detect and track multiple faces instantaneously. This capability is crucial for security systems, surveillance, and interactive applications.</a:t>
            </a:r>
          </a:p>
          <a:p>
            <a:pPr marL="342900" indent="-342900" algn="just">
              <a:lnSpc>
                <a:spcPct val="115000"/>
              </a:lnSpc>
              <a:spcAft>
                <a:spcPts val="1000"/>
              </a:spcAft>
              <a:tabLst>
                <a:tab pos="457200" algn="l"/>
              </a:tabLst>
            </a:pPr>
            <a:r>
              <a:rPr lang="en-US" sz="2000" b="1" i="1" dirty="0">
                <a:effectLst/>
                <a:latin typeface="Times New Roman" panose="02020603050405020304" pitchFamily="18" charset="0"/>
                <a:ea typeface="Times New Roman" panose="02020603050405020304" pitchFamily="18" charset="0"/>
              </a:rPr>
              <a:t>Artificial Intelligence (AI) integration: </a:t>
            </a:r>
            <a:r>
              <a:rPr lang="en-US" sz="2000" dirty="0">
                <a:effectLst/>
                <a:latin typeface="Times New Roman" panose="02020603050405020304" pitchFamily="18" charset="0"/>
                <a:ea typeface="Times New Roman" panose="02020603050405020304" pitchFamily="18" charset="0"/>
              </a:rPr>
              <a:t>Incorporating AI technologies like deep learning and natural language processing can further improve the system's performance and introduce new functionalities, such as voice-based attendance or personalized recommendations for time management.</a:t>
            </a:r>
            <a:endParaRPr lang="en-IN" sz="2000" dirty="0">
              <a:effectLst/>
              <a:latin typeface="Times New Roman" panose="02020603050405020304" pitchFamily="18" charset="0"/>
              <a:ea typeface="Times New Roman" panose="02020603050405020304" pitchFamily="18" charset="0"/>
            </a:endParaRPr>
          </a:p>
          <a:p>
            <a:pPr marL="342900" lvl="0" indent="-342900" algn="just">
              <a:lnSpc>
                <a:spcPct val="115000"/>
              </a:lnSpc>
              <a:spcAft>
                <a:spcPts val="1000"/>
              </a:spcAft>
              <a:tabLst>
                <a:tab pos="457200" algn="l"/>
              </a:tabLst>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77539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0793EF-2C66-84A9-97B2-BD5BEE62830E}"/>
              </a:ext>
            </a:extLst>
          </p:cNvPr>
          <p:cNvSpPr txBox="1"/>
          <p:nvPr/>
        </p:nvSpPr>
        <p:spPr>
          <a:xfrm>
            <a:off x="2035277" y="2300747"/>
            <a:ext cx="8377084" cy="1862048"/>
          </a:xfrm>
          <a:prstGeom prst="rect">
            <a:avLst/>
          </a:prstGeom>
          <a:noFill/>
        </p:spPr>
        <p:txBody>
          <a:bodyPr wrap="square" rtlCol="0">
            <a:spAutoFit/>
          </a:bodyPr>
          <a:lstStyle/>
          <a:p>
            <a:r>
              <a:rPr lang="en-IN" sz="115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pic>
        <p:nvPicPr>
          <p:cNvPr id="4" name="Graphic 3" descr="A wreath with olives and leaves">
            <a:extLst>
              <a:ext uri="{FF2B5EF4-FFF2-40B4-BE49-F238E27FC236}">
                <a16:creationId xmlns:a16="http://schemas.microsoft.com/office/drawing/2014/main" id="{3E507E77-31FF-E9E7-E396-3178F62DE3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18710" y="-1107949"/>
            <a:ext cx="4165006" cy="4165006"/>
          </a:xfrm>
          <a:prstGeom prst="rect">
            <a:avLst/>
          </a:prstGeom>
        </p:spPr>
      </p:pic>
      <p:pic>
        <p:nvPicPr>
          <p:cNvPr id="6" name="Graphic 5" descr="A collection of circles in various sizes and patterns">
            <a:extLst>
              <a:ext uri="{FF2B5EF4-FFF2-40B4-BE49-F238E27FC236}">
                <a16:creationId xmlns:a16="http://schemas.microsoft.com/office/drawing/2014/main" id="{E30812F0-EC54-5A74-A38E-632401EF03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9235099" y="3946622"/>
            <a:ext cx="3911858" cy="3911858"/>
          </a:xfrm>
          <a:prstGeom prst="rect">
            <a:avLst/>
          </a:prstGeom>
        </p:spPr>
      </p:pic>
      <p:pic>
        <p:nvPicPr>
          <p:cNvPr id="8" name="Graphic 7" descr="A collection of circles in various sizes and patterns">
            <a:extLst>
              <a:ext uri="{FF2B5EF4-FFF2-40B4-BE49-F238E27FC236}">
                <a16:creationId xmlns:a16="http://schemas.microsoft.com/office/drawing/2014/main" id="{C37CCD6D-639F-BC75-E613-984904179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289786">
            <a:off x="8999126" y="-757648"/>
            <a:ext cx="3911858" cy="3911858"/>
          </a:xfrm>
          <a:prstGeom prst="rect">
            <a:avLst/>
          </a:prstGeom>
        </p:spPr>
      </p:pic>
      <p:pic>
        <p:nvPicPr>
          <p:cNvPr id="9" name="Graphic 8" descr="A wreath with olives and leaves">
            <a:extLst>
              <a:ext uri="{FF2B5EF4-FFF2-40B4-BE49-F238E27FC236}">
                <a16:creationId xmlns:a16="http://schemas.microsoft.com/office/drawing/2014/main" id="{94AF0930-0614-170E-94EF-49C23BFC83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18710" y="4904018"/>
            <a:ext cx="4165006" cy="4165006"/>
          </a:xfrm>
          <a:prstGeom prst="rect">
            <a:avLst/>
          </a:prstGeom>
        </p:spPr>
      </p:pic>
    </p:spTree>
    <p:extLst>
      <p:ext uri="{BB962C8B-B14F-4D97-AF65-F5344CB8AC3E}">
        <p14:creationId xmlns:p14="http://schemas.microsoft.com/office/powerpoint/2010/main" val="4175465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TotalTime>
  <Words>866</Words>
  <Application>Microsoft Office PowerPoint</Application>
  <PresentationFormat>Widescreen</PresentationFormat>
  <Paragraphs>103</Paragraphs>
  <Slides>19</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Calibri</vt:lpstr>
      <vt:lpstr>Calibri Light</vt:lpstr>
      <vt:lpstr>Candara</vt:lpstr>
      <vt:lpstr>Century</vt:lpstr>
      <vt:lpstr>Georgia</vt:lpstr>
      <vt:lpstr>Maiandra GD</vt:lpstr>
      <vt:lpstr>Söhne</vt:lpstr>
      <vt:lpstr>Source Sans 3</vt:lpstr>
      <vt:lpstr>Times New Roman</vt:lpstr>
      <vt:lpstr>Office Theme</vt:lpstr>
      <vt:lpstr>FACE DETECTION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FACE DETECTION SYSTEM</dc:title>
  <dc:creator>atharva gawand</dc:creator>
  <cp:lastModifiedBy>Pushkar Mhatre</cp:lastModifiedBy>
  <cp:revision>20</cp:revision>
  <dcterms:created xsi:type="dcterms:W3CDTF">2024-04-07T08:53:10Z</dcterms:created>
  <dcterms:modified xsi:type="dcterms:W3CDTF">2024-05-02T04:01:39Z</dcterms:modified>
</cp:coreProperties>
</file>